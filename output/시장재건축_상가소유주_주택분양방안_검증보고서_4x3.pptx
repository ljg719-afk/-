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028d386b-390e-9545-460f-73d8438503c4}">
          <p14:sldIdLst>
            <p14:sldId id="256"/>
          </p14:sldIdLst>
        </p14:section>
        <p14:section name="목차" id="{f162e404-18a6-a2e1-c97c-fb393b192b9a}">
          <p14:sldIdLst>
            <p14:sldId id="257"/>
          </p14:sldIdLst>
        </p14:section>
        <p14:section name="Ⅰ. 검토 개요" id="{93e6aa1f-88bf-0a59-4c69-2ee8e0d4b8ad}">
          <p14:sldIdLst>
            <p14:sldId id="258"/>
            <p14:sldId id="259"/>
          </p14:sldIdLst>
        </p14:section>
        <p14:section name="Ⅱ. 가설 검증" id="{917b2876-108d-5267-7542-306b4468ac9f}">
          <p14:sldIdLst>
            <p14:sldId id="260"/>
            <p14:sldId id="261"/>
          </p14:sldIdLst>
        </p14:section>
        <p14:section name="Ⅲ. 대안 검토" id="{a8897d68-0e81-e090-a678-6d27fb114bc9}">
          <p14:sldIdLst>
            <p14:sldId id="262"/>
            <p14:sldId id="263"/>
            <p14:sldId id="264"/>
            <p14:sldId id="265"/>
            <p14:sldId id="266"/>
          </p14:sldIdLst>
        </p14:section>
        <p14:section name="Ⅳ. 종합 및 후속 조치" id="{62a06f57-80f8-610b-7ea5-1f44dce7e8a3}">
          <p14:sldIdLst>
            <p14:sldId id="267"/>
            <p14:sldId id="268"/>
            <p14:sldId id="269"/>
          </p14:sldIdLst>
        </p14:section>
        <p14:section name="붙임" id="{7d4c724e-d3f6-31b1-09d6-f420a44580f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8321040" cy="0"/>
          </a:xfrm>
          <a:prstGeom prst="line">
            <a:avLst/>
          </a:prstGeom>
          <a:noFill/>
          <a:ln w="9525">
            <a:solidFill>
              <a:srgbClr val="C9D3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시장(상가) 재건축 상가 소유주 주택 분양 방안 검증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262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검증 보고서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03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시장(상가) 재건축 시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소유주의 주택(아파트)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분양 가능 방안</a:t>
            </a:r>
            <a:endParaRPr lang="en-US" sz="3000" dirty="0"/>
          </a:p>
        </p:txBody>
      </p:sp>
      <p:sp>
        <p:nvSpPr>
          <p:cNvPr id="4" name="cover rule"/>
          <p:cNvSpPr/>
          <p:nvPr/>
        </p:nvSpPr>
        <p:spPr>
          <a:xfrm>
            <a:off x="640080" y="4069080"/>
            <a:ext cx="1097280" cy="0"/>
          </a:xfrm>
          <a:prstGeom prst="line">
            <a:avLst/>
          </a:prstGeom>
          <a:noFill/>
          <a:ln w="25400">
            <a:solidFill>
              <a:srgbClr val="E8A08E"/>
            </a:solidFill>
            <a:prstDash val="solid"/>
          </a:ln>
        </p:spPr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4526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광명시 소재 상가 재건축(주상복합) PM 사업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자료: 통화 녹취록(2026.10.19), 기 작성 검토 문서(docx)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작성일: 2026.10.19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보고서는 법령·법제처 해석·공공기관 공개자료에 근거함</a:t>
            </a:r>
            <a:endParaRPr lang="en-US" sz="900" dirty="0"/>
          </a:p>
        </p:txBody>
      </p:sp>
      <p:sp>
        <p:nvSpPr>
          <p:cNvPr id="5" name="toc num 0"/>
          <p:cNvSpPr/>
          <p:nvPr/>
        </p:nvSpPr>
        <p:spPr>
          <a:xfrm>
            <a:off x="411480" y="1417320"/>
            <a:ext cx="1005840" cy="749808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173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</a:t>
            </a:r>
            <a:endParaRPr lang="en-US" sz="2000" dirty="0"/>
          </a:p>
        </p:txBody>
      </p:sp>
      <p:sp>
        <p:nvSpPr>
          <p:cNvPr id="7" name="toc row 0"/>
          <p:cNvSpPr/>
          <p:nvPr/>
        </p:nvSpPr>
        <p:spPr>
          <a:xfrm>
            <a:off x="1417320" y="1417320"/>
            <a:ext cx="7315200" cy="74980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1417320"/>
            <a:ext cx="2194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개요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417320"/>
            <a:ext cx="47548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요약 · 통화 내용 핵심 쟁점</a:t>
            </a:r>
            <a:endParaRPr lang="en-US" sz="1300" dirty="0"/>
          </a:p>
        </p:txBody>
      </p:sp>
      <p:sp>
        <p:nvSpPr>
          <p:cNvPr id="10" name="toc num 1"/>
          <p:cNvSpPr/>
          <p:nvPr/>
        </p:nvSpPr>
        <p:spPr>
          <a:xfrm>
            <a:off x="411480" y="2350008"/>
            <a:ext cx="1005840" cy="749808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35000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</a:t>
            </a:r>
            <a:endParaRPr lang="en-US" sz="2000" dirty="0"/>
          </a:p>
        </p:txBody>
      </p:sp>
      <p:sp>
        <p:nvSpPr>
          <p:cNvPr id="12" name="toc row 1"/>
          <p:cNvSpPr/>
          <p:nvPr/>
        </p:nvSpPr>
        <p:spPr>
          <a:xfrm>
            <a:off x="1417320" y="2350008"/>
            <a:ext cx="7315200" cy="74980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2350008"/>
            <a:ext cx="2194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검증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350008"/>
            <a:ext cx="47548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300세대 미만 건축허가 예외론 · 지자체 특별공급 배정론</a:t>
            </a:r>
            <a:endParaRPr lang="en-US" sz="1300" dirty="0"/>
          </a:p>
        </p:txBody>
      </p:sp>
      <p:sp>
        <p:nvSpPr>
          <p:cNvPr id="15" name="toc num 2"/>
          <p:cNvSpPr/>
          <p:nvPr/>
        </p:nvSpPr>
        <p:spPr>
          <a:xfrm>
            <a:off x="411480" y="3282696"/>
            <a:ext cx="1005840" cy="749808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282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</a:t>
            </a:r>
            <a:endParaRPr lang="en-US" sz="2000" dirty="0"/>
          </a:p>
        </p:txBody>
      </p:sp>
      <p:sp>
        <p:nvSpPr>
          <p:cNvPr id="17" name="toc row 2"/>
          <p:cNvSpPr/>
          <p:nvPr/>
        </p:nvSpPr>
        <p:spPr>
          <a:xfrm>
            <a:off x="1417320" y="3282696"/>
            <a:ext cx="7315200" cy="74980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282696"/>
            <a:ext cx="2194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검토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282696"/>
            <a:ext cx="47548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구조 · 시장정비 · 소규모주택정비 · 지역주택조합 · 규모 조정</a:t>
            </a:r>
            <a:endParaRPr lang="en-US" sz="1300" dirty="0"/>
          </a:p>
        </p:txBody>
      </p:sp>
      <p:sp>
        <p:nvSpPr>
          <p:cNvPr id="20" name="toc num 3"/>
          <p:cNvSpPr/>
          <p:nvPr/>
        </p:nvSpPr>
        <p:spPr>
          <a:xfrm>
            <a:off x="411480" y="4215384"/>
            <a:ext cx="1005840" cy="749808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421538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</a:t>
            </a:r>
            <a:endParaRPr lang="en-US" sz="2000" dirty="0"/>
          </a:p>
        </p:txBody>
      </p:sp>
      <p:sp>
        <p:nvSpPr>
          <p:cNvPr id="22" name="toc row 3"/>
          <p:cNvSpPr/>
          <p:nvPr/>
        </p:nvSpPr>
        <p:spPr>
          <a:xfrm>
            <a:off x="1417320" y="4215384"/>
            <a:ext cx="7315200" cy="74980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0" y="4215384"/>
            <a:ext cx="2194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및 후속 조치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215384"/>
            <a:ext cx="47548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방식별 비교 · 첨부 문서 검증 · 실무 확인 사항</a:t>
            </a:r>
            <a:endParaRPr lang="en-US" sz="1300" dirty="0"/>
          </a:p>
        </p:txBody>
      </p:sp>
      <p:sp>
        <p:nvSpPr>
          <p:cNvPr id="25" name="toc num 4"/>
          <p:cNvSpPr/>
          <p:nvPr/>
        </p:nvSpPr>
        <p:spPr>
          <a:xfrm>
            <a:off x="411480" y="5148072"/>
            <a:ext cx="1005840" cy="749808"/>
          </a:xfrm>
          <a:prstGeom prst="rect">
            <a:avLst/>
          </a:prstGeom>
          <a:solidFill>
            <a:srgbClr val="5B7A8C"/>
          </a:solidFill>
          <a:ln w="9525">
            <a:solidFill>
              <a:srgbClr val="5B7A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514807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붙임</a:t>
            </a:r>
            <a:endParaRPr lang="en-US" sz="2000" dirty="0"/>
          </a:p>
        </p:txBody>
      </p:sp>
      <p:sp>
        <p:nvSpPr>
          <p:cNvPr id="27" name="toc row 4"/>
          <p:cNvSpPr/>
          <p:nvPr/>
        </p:nvSpPr>
        <p:spPr>
          <a:xfrm>
            <a:off x="1417320" y="5148072"/>
            <a:ext cx="7315200" cy="74980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45920" y="5148072"/>
            <a:ext cx="2194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자료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5148072"/>
            <a:ext cx="47548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해석례 · 국토교통부 · 지자체 · 언론 자료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검토 개요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결론 요약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주택법 제54조, 주택공급에 관한 규칙, 법제처 해석례(22-0481 등)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건축허가 방식으로는 상가주 아파트 우선 배정 불가함. 사업 방식 전환 필요함.</a:t>
            </a:r>
            <a:endParaRPr lang="en-US" sz="1400" dirty="0"/>
          </a:p>
        </p:txBody>
      </p:sp>
      <p:sp>
        <p:nvSpPr>
          <p:cNvPr id="7" name="sum head"/>
          <p:cNvSpPr/>
          <p:nvPr/>
        </p:nvSpPr>
        <p:spPr>
          <a:xfrm>
            <a:off x="411480" y="2103120"/>
            <a:ext cx="8321040" cy="36576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03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대상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103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요지</a:t>
            </a:r>
            <a:endParaRPr lang="en-US" sz="1200" dirty="0"/>
          </a:p>
        </p:txBody>
      </p:sp>
      <p:sp>
        <p:nvSpPr>
          <p:cNvPr id="12" name="sum row 0"/>
          <p:cNvSpPr/>
          <p:nvPr/>
        </p:nvSpPr>
        <p:spPr>
          <a:xfrm>
            <a:off x="411480" y="2468880"/>
            <a:ext cx="8321040" cy="603504"/>
          </a:xfrm>
          <a:prstGeom prst="rect">
            <a:avLst/>
          </a:prstGeom>
          <a:solidFill>
            <a:srgbClr val="FBEFEC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468880"/>
            <a:ext cx="8686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①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468880"/>
            <a:ext cx="24231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300세대 미만 건축허가 예외</a:t>
            </a:r>
            <a:endParaRPr lang="en-US" sz="1300" dirty="0"/>
          </a:p>
        </p:txBody>
      </p:sp>
      <p:sp>
        <p:nvSpPr>
          <p:cNvPr id="15" name="chip 불가"/>
          <p:cNvSpPr/>
          <p:nvPr/>
        </p:nvSpPr>
        <p:spPr>
          <a:xfrm>
            <a:off x="3840480" y="263347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2633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68880"/>
            <a:ext cx="38404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30세대 이상이면 공급규칙 적용됨</a:t>
            </a:r>
            <a:endParaRPr lang="en-US" sz="1250" dirty="0"/>
          </a:p>
        </p:txBody>
      </p:sp>
      <p:sp>
        <p:nvSpPr>
          <p:cNvPr id="18" name="sum row 1"/>
          <p:cNvSpPr/>
          <p:nvPr/>
        </p:nvSpPr>
        <p:spPr>
          <a:xfrm>
            <a:off x="411480" y="3072384"/>
            <a:ext cx="8321040" cy="603504"/>
          </a:xfrm>
          <a:prstGeom prst="rect">
            <a:avLst/>
          </a:prstGeom>
          <a:solidFill>
            <a:srgbClr val="FBEFEC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3072384"/>
            <a:ext cx="8686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②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72384"/>
            <a:ext cx="24231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특별공급(5%) 배정</a:t>
            </a:r>
            <a:endParaRPr lang="en-US" sz="1300" dirty="0"/>
          </a:p>
        </p:txBody>
      </p:sp>
      <p:sp>
        <p:nvSpPr>
          <p:cNvPr id="21" name="chip 불가"/>
          <p:cNvSpPr/>
          <p:nvPr/>
        </p:nvSpPr>
        <p:spPr>
          <a:xfrm>
            <a:off x="3840480" y="323697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3236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072384"/>
            <a:ext cx="38404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 대상은 규칙 열거자에 한정됨</a:t>
            </a:r>
            <a:endParaRPr lang="en-US" sz="1250" dirty="0"/>
          </a:p>
        </p:txBody>
      </p:sp>
      <p:sp>
        <p:nvSpPr>
          <p:cNvPr id="24" name="sum row 2"/>
          <p:cNvSpPr/>
          <p:nvPr/>
        </p:nvSpPr>
        <p:spPr>
          <a:xfrm>
            <a:off x="411480" y="3675888"/>
            <a:ext cx="83210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3675888"/>
            <a:ext cx="8686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①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675888"/>
            <a:ext cx="24231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시장정비사업 전환</a:t>
            </a:r>
            <a:endParaRPr lang="en-US" sz="1300" dirty="0"/>
          </a:p>
        </p:txBody>
      </p:sp>
      <p:sp>
        <p:nvSpPr>
          <p:cNvPr id="27" name="chip 조건부"/>
          <p:cNvSpPr/>
          <p:nvPr/>
        </p:nvSpPr>
        <p:spPr>
          <a:xfrm>
            <a:off x="3840480" y="38404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3840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675888"/>
            <a:ext cx="38404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재개발 관리처분 준용. 조례 기준 충족 시</a:t>
            </a:r>
            <a:endParaRPr lang="en-US" sz="1250" dirty="0"/>
          </a:p>
        </p:txBody>
      </p:sp>
      <p:sp>
        <p:nvSpPr>
          <p:cNvPr id="30" name="sum row 3"/>
          <p:cNvSpPr/>
          <p:nvPr/>
        </p:nvSpPr>
        <p:spPr>
          <a:xfrm>
            <a:off x="411480" y="4279392"/>
            <a:ext cx="8321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4279392"/>
            <a:ext cx="8686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②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279392"/>
            <a:ext cx="24231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소규모주택정비 전환</a:t>
            </a:r>
            <a:endParaRPr lang="en-US" sz="1300" dirty="0"/>
          </a:p>
        </p:txBody>
      </p:sp>
      <p:sp>
        <p:nvSpPr>
          <p:cNvPr id="33" name="chip 조건부"/>
          <p:cNvSpPr/>
          <p:nvPr/>
        </p:nvSpPr>
        <p:spPr>
          <a:xfrm>
            <a:off x="3840480" y="444398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40480" y="44439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279392"/>
            <a:ext cx="38404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사업시행계획으로 공급. 구역 요건 필요</a:t>
            </a:r>
            <a:endParaRPr lang="en-US" sz="1250" dirty="0"/>
          </a:p>
        </p:txBody>
      </p:sp>
      <p:sp>
        <p:nvSpPr>
          <p:cNvPr id="36" name="sum row 4"/>
          <p:cNvSpPr/>
          <p:nvPr/>
        </p:nvSpPr>
        <p:spPr>
          <a:xfrm>
            <a:off x="411480" y="4882896"/>
            <a:ext cx="83210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4882896"/>
            <a:ext cx="8686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③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4882896"/>
            <a:ext cx="24231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지역주택조합</a:t>
            </a:r>
            <a:endParaRPr lang="en-US" sz="1300" dirty="0"/>
          </a:p>
        </p:txBody>
      </p:sp>
      <p:sp>
        <p:nvSpPr>
          <p:cNvPr id="39" name="chip 제한적"/>
          <p:cNvSpPr/>
          <p:nvPr/>
        </p:nvSpPr>
        <p:spPr>
          <a:xfrm>
            <a:off x="3840480" y="504748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840480" y="5047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4882896"/>
            <a:ext cx="38404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무주택·1주택 세대주 등 자격 제한</a:t>
            </a:r>
            <a:endParaRPr lang="en-US" sz="1250" dirty="0"/>
          </a:p>
        </p:txBody>
      </p:sp>
      <p:sp>
        <p:nvSpPr>
          <p:cNvPr id="42" name="sum row 5"/>
          <p:cNvSpPr/>
          <p:nvPr/>
        </p:nvSpPr>
        <p:spPr>
          <a:xfrm>
            <a:off x="411480" y="5486400"/>
            <a:ext cx="8321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5486400"/>
            <a:ext cx="8686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④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325880" y="5486400"/>
            <a:ext cx="24231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29세대 이하 / 오피스텔</a:t>
            </a:r>
            <a:endParaRPr lang="en-US" sz="1300" dirty="0"/>
          </a:p>
        </p:txBody>
      </p:sp>
      <p:sp>
        <p:nvSpPr>
          <p:cNvPr id="45" name="chip 제한적"/>
          <p:cNvSpPr/>
          <p:nvPr/>
        </p:nvSpPr>
        <p:spPr>
          <a:xfrm>
            <a:off x="3840480" y="565099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40480" y="56509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846320" y="5486400"/>
            <a:ext cx="38404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오피스텔 30실 이상은 건축물분양법 적용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검토 개요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 내용 핵심 쟁점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통화 녹취록(2026.10.19, 3분 36초)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아파트 수분양 요구에 대해 통화 당사자 모두 선례를 확인하지 못함.</a:t>
            </a:r>
            <a:endParaRPr lang="en-US" sz="1400" dirty="0"/>
          </a:p>
        </p:txBody>
      </p:sp>
      <p:sp>
        <p:nvSpPr>
          <p:cNvPr id="7" name="card 0"/>
          <p:cNvSpPr/>
          <p:nvPr/>
        </p:nvSpPr>
        <p:spPr>
          <a:xfrm>
            <a:off x="411480" y="210312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8" name="num 1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212848"/>
            <a:ext cx="33832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개요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06040"/>
            <a:ext cx="34290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광명시 상가 재건축 PM. 상가를 주상복합으로 개발함.</a:t>
            </a:r>
            <a:endParaRPr lang="en-US" sz="1250" dirty="0"/>
          </a:p>
        </p:txBody>
      </p:sp>
      <p:sp>
        <p:nvSpPr>
          <p:cNvPr id="12" name="card 1"/>
          <p:cNvSpPr/>
          <p:nvPr/>
        </p:nvSpPr>
        <p:spPr>
          <a:xfrm>
            <a:off x="4617720" y="210312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3" name="num 2"/>
          <p:cNvSpPr/>
          <p:nvPr/>
        </p:nvSpPr>
        <p:spPr>
          <a:xfrm>
            <a:off x="4754880" y="2240280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212848"/>
            <a:ext cx="33832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니즈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606040"/>
            <a:ext cx="34290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상가 소유주가 신축 아파트 분양을 희망함.</a:t>
            </a:r>
            <a:endParaRPr lang="en-US" sz="1250" dirty="0"/>
          </a:p>
        </p:txBody>
      </p:sp>
      <p:sp>
        <p:nvSpPr>
          <p:cNvPr id="17" name="card 2"/>
          <p:cNvSpPr/>
          <p:nvPr/>
        </p:nvSpPr>
        <p:spPr>
          <a:xfrm>
            <a:off x="411480" y="329184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8" name="num 3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401568"/>
            <a:ext cx="33832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인허가 구상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794760"/>
            <a:ext cx="34290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300세대 미만으로 「건축법」 건축허가 추진함.</a:t>
            </a:r>
            <a:endParaRPr lang="en-US" sz="1250" dirty="0"/>
          </a:p>
        </p:txBody>
      </p:sp>
      <p:sp>
        <p:nvSpPr>
          <p:cNvPr id="22" name="card 3"/>
          <p:cNvSpPr/>
          <p:nvPr/>
        </p:nvSpPr>
        <p:spPr>
          <a:xfrm>
            <a:off x="4617720" y="329184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23" name="num 4"/>
          <p:cNvSpPr/>
          <p:nvPr/>
        </p:nvSpPr>
        <p:spPr>
          <a:xfrm>
            <a:off x="4754880" y="3429000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401568"/>
            <a:ext cx="33832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문의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794760"/>
            <a:ext cx="34290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특별공급 물량 중 5% 이내 배정 가능 의견을 들음.</a:t>
            </a:r>
            <a:endParaRPr lang="en-US" sz="1250" dirty="0"/>
          </a:p>
        </p:txBody>
      </p:sp>
      <p:sp>
        <p:nvSpPr>
          <p:cNvPr id="27" name="voice"/>
          <p:cNvSpPr/>
          <p:nvPr/>
        </p:nvSpPr>
        <p:spPr>
          <a:xfrm>
            <a:off x="411480" y="4572000"/>
            <a:ext cx="83210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 상대방 의견(녹취 기준)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983480"/>
            <a:ext cx="80467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공급규칙상 상가 소유주 아파트 배정은 불가하다는 견해임.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특별공급 물량은 통상 임대 목적임. 매입 재원 부족 시 일반분양 전환 사례 언급함(부산 화명동, 미검증).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물량 사전 배정 방식은 본 적이 없다는 의견임. 공급규칙 특례 전수 검토에 공감함.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가설 검증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① 300세대 미만 건축허가 예외론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주택법 제15조·제54조, 같은 법 시행령 제27조제4항, 법제처 해석례, 파이낸셜뉴스(2026.9.29)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건축허가 대상 여부와 공급규칙 적용 여부는 별개임. 30세대 이상이면 공급규칙 적용됨.</a:t>
            </a:r>
            <a:endParaRPr lang="en-US" sz="1400" dirty="0"/>
          </a:p>
        </p:txBody>
      </p:sp>
      <p:sp>
        <p:nvSpPr>
          <p:cNvPr id="7" name="step label 0"/>
          <p:cNvSpPr/>
          <p:nvPr/>
        </p:nvSpPr>
        <p:spPr>
          <a:xfrm>
            <a:off x="411480" y="2103120"/>
            <a:ext cx="1737360" cy="786384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03120"/>
            <a:ext cx="173736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인허가 절차</a:t>
            </a:r>
            <a:endParaRPr lang="en-US" sz="1400" dirty="0"/>
          </a:p>
        </p:txBody>
      </p:sp>
      <p:sp>
        <p:nvSpPr>
          <p:cNvPr id="9" name="step body 0"/>
          <p:cNvSpPr/>
          <p:nvPr/>
        </p:nvSpPr>
        <p:spPr>
          <a:xfrm>
            <a:off x="2148840" y="2103120"/>
            <a:ext cx="65836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139696"/>
            <a:ext cx="6309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상업·준주거지역 300세대 미만 주상복합은 사업계획승인 대신 건축허가 가능함.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560320"/>
            <a:ext cx="63093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제15조제1항 단서, 시행령 제27조제4항제1호</a:t>
            </a:r>
            <a:endParaRPr lang="en-US" sz="1050" dirty="0"/>
          </a:p>
        </p:txBody>
      </p:sp>
      <p:sp>
        <p:nvSpPr>
          <p:cNvPr id="12" name="step label 1"/>
          <p:cNvSpPr/>
          <p:nvPr/>
        </p:nvSpPr>
        <p:spPr>
          <a:xfrm>
            <a:off x="411480" y="2999232"/>
            <a:ext cx="1737360" cy="786384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999232"/>
            <a:ext cx="173736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공급 규율</a:t>
            </a:r>
            <a:endParaRPr lang="en-US" sz="1400" dirty="0"/>
          </a:p>
        </p:txBody>
      </p:sp>
      <p:sp>
        <p:nvSpPr>
          <p:cNvPr id="14" name="step body 1"/>
          <p:cNvSpPr/>
          <p:nvPr/>
        </p:nvSpPr>
        <p:spPr>
          <a:xfrm>
            <a:off x="2148840" y="2999232"/>
            <a:ext cx="65836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035808"/>
            <a:ext cx="6309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건축허가 건축주도 법 제15조제1항 호수 이상 공급 시 '사업주체'에 포함됨.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456432"/>
            <a:ext cx="63093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제54조제1항</a:t>
            </a:r>
            <a:endParaRPr lang="en-US" sz="1050" dirty="0"/>
          </a:p>
        </p:txBody>
      </p:sp>
      <p:sp>
        <p:nvSpPr>
          <p:cNvPr id="17" name="step label 2"/>
          <p:cNvSpPr/>
          <p:nvPr/>
        </p:nvSpPr>
        <p:spPr>
          <a:xfrm>
            <a:off x="411480" y="3895344"/>
            <a:ext cx="1737360" cy="786384"/>
          </a:xfrm>
          <a:prstGeom prst="rect">
            <a:avLst/>
          </a:prstGeom>
          <a:solidFill>
            <a:srgbClr val="B5482F"/>
          </a:solidFill>
          <a:ln w="9525">
            <a:solidFill>
              <a:srgbClr val="B548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895344"/>
            <a:ext cx="173736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공급 방법</a:t>
            </a:r>
            <a:endParaRPr lang="en-US" sz="1400" dirty="0"/>
          </a:p>
        </p:txBody>
      </p:sp>
      <p:sp>
        <p:nvSpPr>
          <p:cNvPr id="19" name="step body 2"/>
          <p:cNvSpPr/>
          <p:nvPr/>
        </p:nvSpPr>
        <p:spPr>
          <a:xfrm>
            <a:off x="2148840" y="3895344"/>
            <a:ext cx="6583680" cy="786384"/>
          </a:xfrm>
          <a:prstGeom prst="rect">
            <a:avLst/>
          </a:prstGeom>
          <a:solidFill>
            <a:srgbClr val="FBEFEC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3931920"/>
            <a:ext cx="6309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입주자 모집은 공급규칙 절차를 따라야 함. 상가주 임의 우선배정 불가함.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4352544"/>
            <a:ext cx="63093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주택공급에 관한 규칙 제3조</a:t>
            </a:r>
            <a:endParaRPr lang="en-US" sz="1050" dirty="0"/>
          </a:p>
        </p:txBody>
      </p:sp>
      <p:sp>
        <p:nvSpPr>
          <p:cNvPr id="22" name="trend"/>
          <p:cNvSpPr/>
          <p:nvPr/>
        </p:nvSpPr>
        <p:spPr>
          <a:xfrm>
            <a:off x="411480" y="4892040"/>
            <a:ext cx="8321040" cy="1325880"/>
          </a:xfrm>
          <a:prstGeom prst="roundRect">
            <a:avLst>
              <a:gd name="adj" fmla="val 4138"/>
            </a:avLst>
          </a:prstGeom>
          <a:solidFill>
            <a:srgbClr val="FFF6E5"/>
          </a:solidFill>
          <a:ln w="9525">
            <a:solidFill>
              <a:srgbClr val="FFF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965192"/>
            <a:ext cx="3657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제도 변경 동향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76088"/>
            <a:ext cx="8046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국토교통부는 주상복합 건축허가 기준을 300세대 미만에서 500세대 미만으로 완화하는 시행령 개정안을 입법예고함(2030.12.31까지 한시).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완화되어도 주택 30세대 이상 공급 시 공급규칙 적용 구조는 동일함.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가설 검증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② 지자체 특별공급 물량 배정론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주택공급에 관한 규칙 제35조, 법제처 해석례 22-0481(21-0780 인용), 법제처 해석(cs_seq=386114)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특별공급은 규칙에 열거된 대상자에 한정됨. 상가 소유주는 열거 대상이 아님.</a:t>
            </a:r>
            <a:endParaRPr lang="en-US" sz="1400" dirty="0"/>
          </a:p>
        </p:txBody>
      </p:sp>
      <p:sp>
        <p:nvSpPr>
          <p:cNvPr id="7" name="verdict"/>
          <p:cNvSpPr/>
          <p:nvPr/>
        </p:nvSpPr>
        <p:spPr>
          <a:xfrm>
            <a:off x="411480" y="2103120"/>
            <a:ext cx="2377440" cy="4114800"/>
          </a:xfrm>
          <a:prstGeom prst="rect">
            <a:avLst/>
          </a:prstGeom>
          <a:solidFill>
            <a:srgbClr val="B5482F"/>
          </a:solidFill>
          <a:ln w="9525">
            <a:solidFill>
              <a:srgbClr val="B548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6D6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114800"/>
            <a:ext cx="20574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민간 상가 재건축 상가주에게 특별공급 물량을 배정할 법령상 근거가 확인되지 않음.</a:t>
            </a:r>
            <a:endParaRPr lang="en-US" sz="1300" dirty="0"/>
          </a:p>
        </p:txBody>
      </p:sp>
      <p:sp>
        <p:nvSpPr>
          <p:cNvPr id="11" name="pt 0"/>
          <p:cNvSpPr/>
          <p:nvPr/>
        </p:nvSpPr>
        <p:spPr>
          <a:xfrm>
            <a:off x="2926080" y="2103120"/>
            <a:ext cx="5806440" cy="1298448"/>
          </a:xfrm>
          <a:prstGeom prst="rect">
            <a:avLst/>
          </a:prstGeom>
          <a:solidFill>
            <a:srgbClr val="EEF2F5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2176272"/>
            <a:ext cx="55778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철거주택 소유자 특공 범위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560320"/>
            <a:ext cx="5577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제35조제1항제12호는 공익사업으로 철거되는 '주택' 소유자 대상임. 상가 소유자는 문언상 해당하지 않음.</a:t>
            </a:r>
            <a:endParaRPr lang="en-US" sz="1250" dirty="0"/>
          </a:p>
        </p:txBody>
      </p:sp>
      <p:sp>
        <p:nvSpPr>
          <p:cNvPr id="14" name="pt 1"/>
          <p:cNvSpPr/>
          <p:nvPr/>
        </p:nvSpPr>
        <p:spPr>
          <a:xfrm>
            <a:off x="2926080" y="3511296"/>
            <a:ext cx="58064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584448"/>
            <a:ext cx="55778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 요건 해석 원칙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68496"/>
            <a:ext cx="5577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법제처는 특별공급이 예외적 공급방식이므로 요건을 엄격·제한적으로 해석해야 한다고 봄.</a:t>
            </a:r>
            <a:endParaRPr lang="en-US" sz="1250" dirty="0"/>
          </a:p>
        </p:txBody>
      </p:sp>
      <p:sp>
        <p:nvSpPr>
          <p:cNvPr id="17" name="pt 2"/>
          <p:cNvSpPr/>
          <p:nvPr/>
        </p:nvSpPr>
        <p:spPr>
          <a:xfrm>
            <a:off x="2926080" y="4919472"/>
            <a:ext cx="5806440" cy="1298448"/>
          </a:xfrm>
          <a:prstGeom prst="rect">
            <a:avLst/>
          </a:prstGeom>
          <a:solidFill>
            <a:srgbClr val="EEF2F5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4992624"/>
            <a:ext cx="55778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재량 배정의 한계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5376672"/>
            <a:ext cx="5577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규칙에 없는 대상자에게 협의로 물량을 배정할 근거 규정이 확인되지 않음. 공급질서 위반 소지가 있음.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대안 검토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구조: 공급규칙 적용 예외 경로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주택법 제54조, 주택공급에 관한 규칙 제3조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관리처분·사업시행계획·조합원 공급 등 규칙상 예외 경로로 전환해야 상가주 배정 가능함.</a:t>
            </a:r>
            <a:endParaRPr lang="en-US" sz="1400" dirty="0"/>
          </a:p>
        </p:txBody>
      </p:sp>
      <p:sp>
        <p:nvSpPr>
          <p:cNvPr id="7" name="start"/>
          <p:cNvSpPr/>
          <p:nvPr/>
        </p:nvSpPr>
        <p:spPr>
          <a:xfrm>
            <a:off x="411480" y="2148840"/>
            <a:ext cx="2377440" cy="86868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48840"/>
            <a:ext cx="237744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 배정 요구</a:t>
            </a:r>
            <a:endParaRPr lang="en-US" sz="1300" dirty="0"/>
          </a:p>
        </p:txBody>
      </p:sp>
      <p:sp>
        <p:nvSpPr>
          <p:cNvPr id="9" name="f1"/>
          <p:cNvSpPr/>
          <p:nvPr/>
        </p:nvSpPr>
        <p:spPr>
          <a:xfrm>
            <a:off x="2788920" y="2583180"/>
            <a:ext cx="365760" cy="0"/>
          </a:xfrm>
          <a:prstGeom prst="line">
            <a:avLst/>
          </a:prstGeom>
          <a:noFill/>
          <a:ln w="1905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10" name="q"/>
          <p:cNvSpPr/>
          <p:nvPr/>
        </p:nvSpPr>
        <p:spPr>
          <a:xfrm>
            <a:off x="3154680" y="2148840"/>
            <a:ext cx="2377440" cy="868680"/>
          </a:xfrm>
          <a:prstGeom prst="rect">
            <a:avLst/>
          </a:prstGeom>
          <a:solidFill>
            <a:srgbClr val="EEF2F5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2148840"/>
            <a:ext cx="237744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30세대 이상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여부</a:t>
            </a:r>
            <a:endParaRPr lang="en-US" sz="1300" dirty="0"/>
          </a:p>
        </p:txBody>
      </p:sp>
      <p:sp>
        <p:nvSpPr>
          <p:cNvPr id="12" name="f2"/>
          <p:cNvSpPr/>
          <p:nvPr/>
        </p:nvSpPr>
        <p:spPr>
          <a:xfrm>
            <a:off x="5532120" y="2583180"/>
            <a:ext cx="365760" cy="0"/>
          </a:xfrm>
          <a:prstGeom prst="line">
            <a:avLst/>
          </a:prstGeom>
          <a:noFill/>
          <a:ln w="1905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13" name="yes"/>
          <p:cNvSpPr/>
          <p:nvPr/>
        </p:nvSpPr>
        <p:spPr>
          <a:xfrm>
            <a:off x="5897880" y="2148840"/>
            <a:ext cx="2834640" cy="868680"/>
          </a:xfrm>
          <a:prstGeom prst="rect">
            <a:avLst/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공급규칙 적용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원칙은 입주자 공개모집임</a:t>
            </a:r>
            <a:endParaRPr lang="en-US" sz="1250" dirty="0"/>
          </a:p>
        </p:txBody>
      </p:sp>
      <p:sp>
        <p:nvSpPr>
          <p:cNvPr id="15" name="f3"/>
          <p:cNvSpPr/>
          <p:nvPr/>
        </p:nvSpPr>
        <p:spPr>
          <a:xfrm>
            <a:off x="4343400" y="3017520"/>
            <a:ext cx="0" cy="411480"/>
          </a:xfrm>
          <a:prstGeom prst="line">
            <a:avLst/>
          </a:prstGeom>
          <a:noFill/>
          <a:ln w="1905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971800" y="3447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아니오: 규칙 미적용(대안 ④)</a:t>
            </a:r>
            <a:endParaRPr lang="en-US" sz="1150" dirty="0"/>
          </a:p>
        </p:txBody>
      </p:sp>
      <p:sp>
        <p:nvSpPr>
          <p:cNvPr id="17" name="f4"/>
          <p:cNvSpPr/>
          <p:nvPr/>
        </p:nvSpPr>
        <p:spPr>
          <a:xfrm>
            <a:off x="7315200" y="3017520"/>
            <a:ext cx="0" cy="411480"/>
          </a:xfrm>
          <a:prstGeom prst="line">
            <a:avLst/>
          </a:prstGeom>
          <a:noFill/>
          <a:ln w="1905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806440" y="3447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제3조 적용 예외 경로(대안 ①~③)</a:t>
            </a:r>
            <a:endParaRPr lang="en-US" sz="1150" dirty="0"/>
          </a:p>
        </p:txBody>
      </p:sp>
      <p:sp>
        <p:nvSpPr>
          <p:cNvPr id="19" name="opt 0"/>
          <p:cNvSpPr/>
          <p:nvPr/>
        </p:nvSpPr>
        <p:spPr>
          <a:xfrm>
            <a:off x="411480" y="402336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①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시장정비사업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관리처분계획(재개발 준용)</a:t>
            </a:r>
            <a:endParaRPr lang="en-US" sz="1250" dirty="0"/>
          </a:p>
        </p:txBody>
      </p:sp>
      <p:sp>
        <p:nvSpPr>
          <p:cNvPr id="23" name="opt 1"/>
          <p:cNvSpPr/>
          <p:nvPr/>
        </p:nvSpPr>
        <p:spPr>
          <a:xfrm>
            <a:off x="2514600" y="402336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24328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②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24328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소규모주택정비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624328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관리처분·사업시행계획</a:t>
            </a:r>
            <a:endParaRPr lang="en-US" sz="1250" dirty="0"/>
          </a:p>
        </p:txBody>
      </p:sp>
      <p:sp>
        <p:nvSpPr>
          <p:cNvPr id="27" name="opt 2"/>
          <p:cNvSpPr/>
          <p:nvPr/>
        </p:nvSpPr>
        <p:spPr>
          <a:xfrm>
            <a:off x="4617720" y="402336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27448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③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727448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지역주택조합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727448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조합원 공급</a:t>
            </a:r>
            <a:endParaRPr lang="en-US" sz="1250" dirty="0"/>
          </a:p>
        </p:txBody>
      </p:sp>
      <p:sp>
        <p:nvSpPr>
          <p:cNvPr id="31" name="opt 3"/>
          <p:cNvSpPr/>
          <p:nvPr/>
        </p:nvSpPr>
        <p:spPr>
          <a:xfrm>
            <a:off x="6720840" y="402336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0568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④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30568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 조정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30568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29세대 이하 / 오피스텔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대안 검토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① 시장정비사업 방식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전통시장법 제4조, 법제처 해석(cs_seq=434117), 도시정비법 시행령 제63조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대상지가 시장정비사업 요건을 갖추면 가장 직접적인 경로임.</a:t>
            </a:r>
            <a:endParaRPr lang="en-US" sz="1400" dirty="0"/>
          </a:p>
        </p:txBody>
      </p:sp>
      <p:sp>
        <p:nvSpPr>
          <p:cNvPr id="7" name="band label 0"/>
          <p:cNvSpPr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400" dirty="0"/>
          </a:p>
        </p:txBody>
      </p:sp>
      <p:sp>
        <p:nvSpPr>
          <p:cNvPr id="9" name="band body 0"/>
          <p:cNvSpPr/>
          <p:nvPr/>
        </p:nvSpPr>
        <p:spPr>
          <a:xfrm>
            <a:off x="1828800" y="2103120"/>
            <a:ext cx="6903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139696"/>
            <a:ext cx="6675120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전통시장법 제4조제1항: 시장정비사업에 정하지 않은 사항은 도시정비법 재개발 규정 준용함.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해석(강남구 질의): 공동주택 분양 시 도시정비법 제74조, 시행령 제63조제1항제3호 단서 준용됨.</a:t>
            </a:r>
            <a:endParaRPr lang="en-US" sz="1200" dirty="0"/>
          </a:p>
        </p:txBody>
      </p:sp>
      <p:sp>
        <p:nvSpPr>
          <p:cNvPr id="11" name="band label 1"/>
          <p:cNvSpPr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400" dirty="0"/>
          </a:p>
        </p:txBody>
      </p:sp>
      <p:sp>
        <p:nvSpPr>
          <p:cNvPr id="13" name="band body 1"/>
          <p:cNvSpPr/>
          <p:nvPr/>
        </p:nvSpPr>
        <p:spPr>
          <a:xfrm>
            <a:off x="1828800" y="3227832"/>
            <a:ext cx="6903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3264408"/>
            <a:ext cx="6675120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상가(토지·건축물) 소유자는 토지등소유자로서 관리처분계획에 따라 공동주택 분양 가능함.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 공급분은 공급규칙 적용 예외임. 조합원 공급 후 잔여 세대만 일반분양함.</a:t>
            </a:r>
            <a:endParaRPr lang="en-US" sz="1200" dirty="0"/>
          </a:p>
        </p:txBody>
      </p:sp>
      <p:sp>
        <p:nvSpPr>
          <p:cNvPr id="15" name="band label 2"/>
          <p:cNvSpPr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solidFill>
            <a:srgbClr val="B5482F"/>
          </a:solidFill>
          <a:ln w="9525">
            <a:solidFill>
              <a:srgbClr val="B548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</a:t>
            </a:r>
            <a:endParaRPr lang="en-US" sz="1400" dirty="0"/>
          </a:p>
        </p:txBody>
      </p:sp>
      <p:sp>
        <p:nvSpPr>
          <p:cNvPr id="17" name="band body 2"/>
          <p:cNvSpPr/>
          <p:nvPr/>
        </p:nvSpPr>
        <p:spPr>
          <a:xfrm>
            <a:off x="1828800" y="4261104"/>
            <a:ext cx="6903720" cy="1234440"/>
          </a:xfrm>
          <a:prstGeom prst="rect">
            <a:avLst/>
          </a:prstGeom>
          <a:solidFill>
            <a:srgbClr val="FBEFEC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297680"/>
            <a:ext cx="6675120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조례상 금액·규모·취득시기·유형 기준 미달 소유자는 분양대상에서 제외될 수 있음.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조례 기준 확인 필요함. 대상지 등록·인정시장 해당 여부 확인 필요함.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해석은 법적 기속력이 없음.</a:t>
            </a:r>
            <a:endParaRPr lang="en-US" sz="1200" dirty="0"/>
          </a:p>
        </p:txBody>
      </p:sp>
      <p:sp>
        <p:nvSpPr>
          <p:cNvPr id="19" name="opinion"/>
          <p:cNvSpPr/>
          <p:nvPr/>
        </p:nvSpPr>
        <p:spPr>
          <a:xfrm>
            <a:off x="411480" y="5623560"/>
            <a:ext cx="8321040" cy="68580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623560"/>
            <a:ext cx="11887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300" dirty="0"/>
          </a:p>
        </p:txBody>
      </p:sp>
      <p:sp>
        <p:nvSpPr>
          <p:cNvPr id="21" name="chip 조건부"/>
          <p:cNvSpPr/>
          <p:nvPr/>
        </p:nvSpPr>
        <p:spPr>
          <a:xfrm>
            <a:off x="1737360" y="582472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37360" y="5824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5623560"/>
            <a:ext cx="59436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근거가 가장 명확함. 시장 해당 여부와 조례상 분양대상 기준이 선결 과제임.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대안 검토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② 소규모주택정비 방식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소규모주택정비법 제2조, 주택공급에 관한 규칙 제3조(2023.11.10 시행본), 서울시 가로주택정비사업 안내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요건 미달 시 가로주택정비·소규모재개발 전환을 검토함.</a:t>
            </a:r>
            <a:endParaRPr lang="en-US" sz="1400" dirty="0"/>
          </a:p>
        </p:txBody>
      </p:sp>
      <p:sp>
        <p:nvSpPr>
          <p:cNvPr id="7" name="band label 0"/>
          <p:cNvSpPr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400" dirty="0"/>
          </a:p>
        </p:txBody>
      </p:sp>
      <p:sp>
        <p:nvSpPr>
          <p:cNvPr id="9" name="band body 0"/>
          <p:cNvSpPr/>
          <p:nvPr/>
        </p:nvSpPr>
        <p:spPr>
          <a:xfrm>
            <a:off x="1828800" y="2103120"/>
            <a:ext cx="6903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139696"/>
            <a:ext cx="6675120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「빈집 및 소규모주택 정비에 관한 특례법」 제2조(사업 정의).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공급규칙 제3조: 사업시행계획에 따라 토지등소유자·조합원에게 공급하는 주택은 적용 예외임.</a:t>
            </a:r>
            <a:endParaRPr lang="en-US" sz="1200" dirty="0"/>
          </a:p>
        </p:txBody>
      </p:sp>
      <p:sp>
        <p:nvSpPr>
          <p:cNvPr id="11" name="band label 1"/>
          <p:cNvSpPr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400" dirty="0"/>
          </a:p>
        </p:txBody>
      </p:sp>
      <p:sp>
        <p:nvSpPr>
          <p:cNvPr id="13" name="band body 1"/>
          <p:cNvSpPr/>
          <p:nvPr/>
        </p:nvSpPr>
        <p:spPr>
          <a:xfrm>
            <a:off x="1828800" y="3227832"/>
            <a:ext cx="6903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3264408"/>
            <a:ext cx="6675120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가로주택정비·소규모재개발은 구역 내 토지 또는 건축물 소유자가 토지등소유자가 됨.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소유자도 조합원으로 주택 공급 대상이 될 수 있음. 소규모재건축은 부적합함.</a:t>
            </a:r>
            <a:endParaRPr lang="en-US" sz="1200" dirty="0"/>
          </a:p>
        </p:txBody>
      </p:sp>
      <p:sp>
        <p:nvSpPr>
          <p:cNvPr id="15" name="band label 2"/>
          <p:cNvSpPr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solidFill>
            <a:srgbClr val="B5482F"/>
          </a:solidFill>
          <a:ln w="9525">
            <a:solidFill>
              <a:srgbClr val="B548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</a:t>
            </a:r>
            <a:endParaRPr lang="en-US" sz="1400" dirty="0"/>
          </a:p>
        </p:txBody>
      </p:sp>
      <p:sp>
        <p:nvSpPr>
          <p:cNvPr id="17" name="band body 2"/>
          <p:cNvSpPr/>
          <p:nvPr/>
        </p:nvSpPr>
        <p:spPr>
          <a:xfrm>
            <a:off x="1828800" y="4261104"/>
            <a:ext cx="6903720" cy="1234440"/>
          </a:xfrm>
          <a:prstGeom prst="rect">
            <a:avLst/>
          </a:prstGeom>
          <a:solidFill>
            <a:srgbClr val="FBEFEC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297680"/>
            <a:ext cx="6675120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가로주택: 1만㎡ 미만, 6m 이상 도로로 둘러싸인 가로구역, 노후·불량건축물 2/3 이상.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소규모재개발: 역세권·준공업지역 대상. 면적 기준은 원문 확인 필요함.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소유자 분양기준은 조례·정관 확인 필요함.</a:t>
            </a:r>
            <a:endParaRPr lang="en-US" sz="1200" dirty="0"/>
          </a:p>
        </p:txBody>
      </p:sp>
      <p:sp>
        <p:nvSpPr>
          <p:cNvPr id="19" name="opinion"/>
          <p:cNvSpPr/>
          <p:nvPr/>
        </p:nvSpPr>
        <p:spPr>
          <a:xfrm>
            <a:off x="411480" y="5623560"/>
            <a:ext cx="8321040" cy="68580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623560"/>
            <a:ext cx="11887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300" dirty="0"/>
          </a:p>
        </p:txBody>
      </p:sp>
      <p:sp>
        <p:nvSpPr>
          <p:cNvPr id="21" name="chip 조건부"/>
          <p:cNvSpPr/>
          <p:nvPr/>
        </p:nvSpPr>
        <p:spPr>
          <a:xfrm>
            <a:off x="1737360" y="582472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37360" y="5824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5623560"/>
            <a:ext cx="59436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요건 미충족 시 차선책임. 구역 요건 충족 여부를 먼저 확인해야 함.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대안 검토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③ 지역주택조합 방식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주택법 제11조, 같은 법 시행령 제21조제1항제1호, 국토교통부 정책Q&amp;A, 하남시 안내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정비사업 요건이 맞지 않을 때의 보조 대안임.</a:t>
            </a:r>
            <a:endParaRPr lang="en-US" sz="1400" dirty="0"/>
          </a:p>
        </p:txBody>
      </p:sp>
      <p:sp>
        <p:nvSpPr>
          <p:cNvPr id="7" name="band label 0"/>
          <p:cNvSpPr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400" dirty="0"/>
          </a:p>
        </p:txBody>
      </p:sp>
      <p:sp>
        <p:nvSpPr>
          <p:cNvPr id="9" name="band body 0"/>
          <p:cNvSpPr/>
          <p:nvPr/>
        </p:nvSpPr>
        <p:spPr>
          <a:xfrm>
            <a:off x="1828800" y="2103120"/>
            <a:ext cx="6903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139696"/>
            <a:ext cx="6675120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제11조(주택조합 설립인가).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공급규칙 제3조제2항: 주택조합이 조합원에게 공급하는 주택은 일반 공급절차 일부 적용 예외임.</a:t>
            </a:r>
            <a:endParaRPr lang="en-US" sz="1200" dirty="0"/>
          </a:p>
        </p:txBody>
      </p:sp>
      <p:sp>
        <p:nvSpPr>
          <p:cNvPr id="11" name="band label 1"/>
          <p:cNvSpPr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400" dirty="0"/>
          </a:p>
        </p:txBody>
      </p:sp>
      <p:sp>
        <p:nvSpPr>
          <p:cNvPr id="13" name="band body 1"/>
          <p:cNvSpPr/>
          <p:nvPr/>
        </p:nvSpPr>
        <p:spPr>
          <a:xfrm>
            <a:off x="1828800" y="3227832"/>
            <a:ext cx="6903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3264408"/>
            <a:ext cx="6675120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소유주가 조합원 자격을 갖추면 조합원 지위로 주택을 배정받음.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조합원 수 부족 시 외부 조합원 모집이 수반됨.</a:t>
            </a:r>
            <a:endParaRPr lang="en-US" sz="1200" dirty="0"/>
          </a:p>
        </p:txBody>
      </p:sp>
      <p:sp>
        <p:nvSpPr>
          <p:cNvPr id="15" name="band label 2"/>
          <p:cNvSpPr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solidFill>
            <a:srgbClr val="B5482F"/>
          </a:solidFill>
          <a:ln w="9525">
            <a:solidFill>
              <a:srgbClr val="B548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</a:t>
            </a:r>
            <a:endParaRPr lang="en-US" sz="1400" dirty="0"/>
          </a:p>
        </p:txBody>
      </p:sp>
      <p:sp>
        <p:nvSpPr>
          <p:cNvPr id="17" name="band body 2"/>
          <p:cNvSpPr/>
          <p:nvPr/>
        </p:nvSpPr>
        <p:spPr>
          <a:xfrm>
            <a:off x="1828800" y="4261104"/>
            <a:ext cx="6903720" cy="1234440"/>
          </a:xfrm>
          <a:prstGeom prst="rect">
            <a:avLst/>
          </a:prstGeom>
          <a:solidFill>
            <a:srgbClr val="FBEFEC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297680"/>
            <a:ext cx="6675120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조합원 자격: 무주택 또는 85㎡ 이하 1주택 세대주, 해당 지역 6개월 이상 거주.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조합설립: 토지사용권원 80% 이상, 소유권 15% 이상 확보 필요함.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다주택·외지 거주 상가주는 참여 불가함.</a:t>
            </a:r>
            <a:endParaRPr lang="en-US" sz="1200" dirty="0"/>
          </a:p>
        </p:txBody>
      </p:sp>
      <p:sp>
        <p:nvSpPr>
          <p:cNvPr id="19" name="opinion"/>
          <p:cNvSpPr/>
          <p:nvPr/>
        </p:nvSpPr>
        <p:spPr>
          <a:xfrm>
            <a:off x="411480" y="5623560"/>
            <a:ext cx="8321040" cy="68580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623560"/>
            <a:ext cx="11887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300" dirty="0"/>
          </a:p>
        </p:txBody>
      </p:sp>
      <p:sp>
        <p:nvSpPr>
          <p:cNvPr id="21" name="chip 제한적"/>
          <p:cNvSpPr/>
          <p:nvPr/>
        </p:nvSpPr>
        <p:spPr>
          <a:xfrm>
            <a:off x="1737360" y="582472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37360" y="5824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5623560"/>
            <a:ext cx="59436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전원 배정이 불가능한 구조임. 주된 방식으로 권고하지 않음.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대안 검토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④ 규모 조정 방식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주택법 제54조, 건축물의 분양에 관한 법률 시행령 제2조, 법제처 해석례 22-0562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건축허가 방식을 유지해야 할 경우의 물리적 대안임.</a:t>
            </a:r>
            <a:endParaRPr lang="en-US" sz="1400" dirty="0"/>
          </a:p>
        </p:txBody>
      </p:sp>
      <p:sp>
        <p:nvSpPr>
          <p:cNvPr id="7" name="band label 0"/>
          <p:cNvSpPr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400" dirty="0"/>
          </a:p>
        </p:txBody>
      </p:sp>
      <p:sp>
        <p:nvSpPr>
          <p:cNvPr id="9" name="band body 0"/>
          <p:cNvSpPr/>
          <p:nvPr/>
        </p:nvSpPr>
        <p:spPr>
          <a:xfrm>
            <a:off x="1828800" y="2103120"/>
            <a:ext cx="6903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139696"/>
            <a:ext cx="6675120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제54조제1항: 건축허가 건축주는 법 제15조제1항 호수 이상 공급 시에만 사업주체임.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오피스텔은 주택법상 주택 아님. 30실 이상은 건축물분양법 적용 대상임.</a:t>
            </a:r>
            <a:endParaRPr lang="en-US" sz="1200" dirty="0"/>
          </a:p>
        </p:txBody>
      </p:sp>
      <p:sp>
        <p:nvSpPr>
          <p:cNvPr id="11" name="band label 1"/>
          <p:cNvSpPr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227832"/>
            <a:ext cx="14173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400" dirty="0"/>
          </a:p>
        </p:txBody>
      </p:sp>
      <p:sp>
        <p:nvSpPr>
          <p:cNvPr id="13" name="band body 1"/>
          <p:cNvSpPr/>
          <p:nvPr/>
        </p:nvSpPr>
        <p:spPr>
          <a:xfrm>
            <a:off x="1828800" y="3227832"/>
            <a:ext cx="6903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3264408"/>
            <a:ext cx="6675120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공동주택을 30세대 미만으로 계획하면 공급규칙이 적용되지 않음.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상가주와 개별 계약으로 주택 배정 가능함. 오피스텔 29실 이하는 분양신고 대상 아님.</a:t>
            </a:r>
            <a:endParaRPr lang="en-US" sz="1200" dirty="0"/>
          </a:p>
        </p:txBody>
      </p:sp>
      <p:sp>
        <p:nvSpPr>
          <p:cNvPr id="15" name="band label 2"/>
          <p:cNvSpPr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solidFill>
            <a:srgbClr val="B5482F"/>
          </a:solidFill>
          <a:ln w="9525">
            <a:solidFill>
              <a:srgbClr val="B548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261104"/>
            <a:ext cx="14173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</a:t>
            </a:r>
            <a:endParaRPr lang="en-US" sz="1400" dirty="0"/>
          </a:p>
        </p:txBody>
      </p:sp>
      <p:sp>
        <p:nvSpPr>
          <p:cNvPr id="17" name="band body 2"/>
          <p:cNvSpPr/>
          <p:nvPr/>
        </p:nvSpPr>
        <p:spPr>
          <a:xfrm>
            <a:off x="1828800" y="4261104"/>
            <a:ext cx="6903720" cy="1234440"/>
          </a:xfrm>
          <a:prstGeom prst="rect">
            <a:avLst/>
          </a:prstGeom>
          <a:solidFill>
            <a:srgbClr val="FBEFEC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297680"/>
            <a:ext cx="6675120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오피스텔 30실 이상은 분양신고 절차 필요함. 임의 배정 가능 여부는 원문 확인 필요함.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30세대 산정 시 민간임대주택 포함 여부가 법제처 해석 쟁점이었음(22-0562).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세대수 축소로 사업성이 저하됨.</a:t>
            </a:r>
            <a:endParaRPr lang="en-US" sz="1200" dirty="0"/>
          </a:p>
        </p:txBody>
      </p:sp>
      <p:sp>
        <p:nvSpPr>
          <p:cNvPr id="19" name="opinion"/>
          <p:cNvSpPr/>
          <p:nvPr/>
        </p:nvSpPr>
        <p:spPr>
          <a:xfrm>
            <a:off x="411480" y="5623560"/>
            <a:ext cx="8321040" cy="685800"/>
          </a:xfrm>
          <a:prstGeom prst="rect">
            <a:avLst/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623560"/>
            <a:ext cx="11887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300" dirty="0"/>
          </a:p>
        </p:txBody>
      </p:sp>
      <p:sp>
        <p:nvSpPr>
          <p:cNvPr id="21" name="chip 제한적"/>
          <p:cNvSpPr/>
          <p:nvPr/>
        </p:nvSpPr>
        <p:spPr>
          <a:xfrm>
            <a:off x="1737360" y="582472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37360" y="5824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5623560"/>
            <a:ext cx="59436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위험은 낮으나 공급 규모가 작음. 오피스텔은 건축물분양법 절차를 별도 검토해야 함.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종합 및 후속 조치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방식별 비교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본 보고서 Ⅱ~Ⅲ장 검토 결과 종합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배정 근거와 선결 요건 모두 시장정비사업이 가장 유리함.</a:t>
            </a:r>
            <a:endParaRPr lang="en-US" sz="1400" dirty="0"/>
          </a:p>
        </p:txBody>
      </p:sp>
      <p:graphicFrame>
        <p:nvGraphicFramePr>
          <p:cNvPr id="13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03120"/>
          <a:ext cx="8321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463040"/>
                <a:gridCol w="1417320"/>
                <a:gridCol w="1417320"/>
                <a:gridCol w="14173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시장정비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소규모정비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지역주택조합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규모 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 구상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법령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전통시장법 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도시정비법 준용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소규모주택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정비법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(+건축물분양법)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주택법·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공급규칙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상가주 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자격자만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48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다주택 상가주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조례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조례·정관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48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제한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48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청약 경쟁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선결 요건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요건,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추진계획 승인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가로구역·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역세권 요건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조합원 자격,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 29세대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이하 설계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리스크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분양대상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구역 요건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 지연·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사업성 저하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상가주 요구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1480" y="5852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판정은 공개자료 기준임. 대상지 현황과 조례 확인 후 확정해야 함.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종합 및 후속 조치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검토 문서(docx) 검증 결과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법제처 해석례, 국토교통부 자료, 파이낸셜뉴스(2026.9.29) 대조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방향은 타당함. 조항 번호 1건, 해석 범위 2건 수정 필요함.</a:t>
            </a:r>
            <a:endParaRPr lang="en-US" sz="1400" dirty="0"/>
          </a:p>
        </p:txBody>
      </p:sp>
      <p:graphicFrame>
        <p:nvGraphicFramePr>
          <p:cNvPr id="14" name="verific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03120"/>
          <a:ext cx="832104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777240"/>
                <a:gridCol w="402336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기재 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의견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건축허가 근거: 시행령 제27조제1항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근거는 시행령 제27조제4항제1호임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500세대 미만 완화 추진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2026.9 입법예고 확인. 시행 여부 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30세대 이상 시 공급규칙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주택법 제54조제1항과 일치함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철거주택 특공은 주택 소유자 한정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 제35조제1항제12호 확인함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 제35조 제27호의2, 제45조(5%)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9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공개자료로 조문 확인 못함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시장정비 해석 안건번호 22-0572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9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 내용은 확인됨. 번호 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시장정비 시 상가주 1순위 분양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조례 분양기준 충족 시에만 가능함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오피스텔 공급 제약 없이 직접 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30실 이상은 건축물분양법 적용됨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가로주택 최대 2만㎡, 단지형 49세대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9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공개자료로 확인 못함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종합 및 후속 조치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실무 확인 사항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본 보고서 검토 결과</a:t>
            </a:r>
            <a:endParaRPr lang="en-US" sz="900" dirty="0"/>
          </a:p>
        </p:txBody>
      </p:sp>
      <p:sp>
        <p:nvSpPr>
          <p:cNvPr id="5" name="head message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방식 확정 전 아래 5단계를 순서대로 확인함.</a:t>
            </a:r>
            <a:endParaRPr lang="en-US" sz="1400" dirty="0"/>
          </a:p>
        </p:txBody>
      </p:sp>
      <p:sp>
        <p:nvSpPr>
          <p:cNvPr id="7" name="num 1"/>
          <p:cNvSpPr/>
          <p:nvPr/>
        </p:nvSpPr>
        <p:spPr>
          <a:xfrm>
            <a:off x="411480" y="2258568"/>
            <a:ext cx="384048" cy="384048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next 0"/>
          <p:cNvSpPr/>
          <p:nvPr/>
        </p:nvSpPr>
        <p:spPr>
          <a:xfrm>
            <a:off x="914400" y="2103120"/>
            <a:ext cx="7818120" cy="694944"/>
          </a:xfrm>
          <a:prstGeom prst="rect">
            <a:avLst/>
          </a:prstGeom>
          <a:solidFill>
            <a:srgbClr val="EEF2F5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103120"/>
            <a:ext cx="17373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해당 여부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103120"/>
            <a:ext cx="44805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등록·인정시장, 상점가·골목형상점가 지정 여부 확인함.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103120"/>
            <a:ext cx="137160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광명시</a:t>
            </a:r>
            <a:endParaRPr lang="en-US" sz="1100" dirty="0"/>
          </a:p>
        </p:txBody>
      </p:sp>
      <p:sp>
        <p:nvSpPr>
          <p:cNvPr id="13" name="num 2"/>
          <p:cNvSpPr/>
          <p:nvPr/>
        </p:nvSpPr>
        <p:spPr>
          <a:xfrm>
            <a:off x="411480" y="3063240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next 1"/>
          <p:cNvSpPr/>
          <p:nvPr/>
        </p:nvSpPr>
        <p:spPr>
          <a:xfrm>
            <a:off x="914400" y="2907792"/>
            <a:ext cx="78181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2907792"/>
            <a:ext cx="17373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분양대상 기준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2907792"/>
            <a:ext cx="44805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조례상 공동주택 분양대상 기준(권리가액·면적·취득시기) 확인함.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2907792"/>
            <a:ext cx="137160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경기도·광명시</a:t>
            </a:r>
            <a:endParaRPr lang="en-US" sz="1100" dirty="0"/>
          </a:p>
        </p:txBody>
      </p:sp>
      <p:sp>
        <p:nvSpPr>
          <p:cNvPr id="19" name="num 3"/>
          <p:cNvSpPr/>
          <p:nvPr/>
        </p:nvSpPr>
        <p:spPr>
          <a:xfrm>
            <a:off x="411480" y="3867912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next 2"/>
          <p:cNvSpPr/>
          <p:nvPr/>
        </p:nvSpPr>
        <p:spPr>
          <a:xfrm>
            <a:off x="914400" y="3712464"/>
            <a:ext cx="7818120" cy="694944"/>
          </a:xfrm>
          <a:prstGeom prst="rect">
            <a:avLst/>
          </a:prstGeom>
          <a:solidFill>
            <a:srgbClr val="EEF2F5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3712464"/>
            <a:ext cx="17373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요건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3712464"/>
            <a:ext cx="44805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요건 미달 시 가로구역·역세권·노후도 요건 검토함.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712464"/>
            <a:ext cx="137160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도시계획 자료</a:t>
            </a:r>
            <a:endParaRPr lang="en-US" sz="1100" dirty="0"/>
          </a:p>
        </p:txBody>
      </p:sp>
      <p:sp>
        <p:nvSpPr>
          <p:cNvPr id="25" name="num 4"/>
          <p:cNvSpPr/>
          <p:nvPr/>
        </p:nvSpPr>
        <p:spPr>
          <a:xfrm>
            <a:off x="411480" y="4672584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next 3"/>
          <p:cNvSpPr/>
          <p:nvPr/>
        </p:nvSpPr>
        <p:spPr>
          <a:xfrm>
            <a:off x="914400" y="4517136"/>
            <a:ext cx="78181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4517136"/>
            <a:ext cx="17373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유권해석 확보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2788920" y="4517136"/>
            <a:ext cx="44805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 확정 전 국토교통부 질의회신 또는 법제처 해석을 서면 확보함.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517136"/>
            <a:ext cx="137160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국토부·법제처</a:t>
            </a:r>
            <a:endParaRPr lang="en-US" sz="1100" dirty="0"/>
          </a:p>
        </p:txBody>
      </p:sp>
      <p:sp>
        <p:nvSpPr>
          <p:cNvPr id="31" name="num 5"/>
          <p:cNvSpPr/>
          <p:nvPr/>
        </p:nvSpPr>
        <p:spPr>
          <a:xfrm>
            <a:off x="411480" y="5477256"/>
            <a:ext cx="384048" cy="384048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next 4"/>
          <p:cNvSpPr/>
          <p:nvPr/>
        </p:nvSpPr>
        <p:spPr>
          <a:xfrm>
            <a:off x="914400" y="5321808"/>
            <a:ext cx="7818120" cy="694944"/>
          </a:xfrm>
          <a:prstGeom prst="rect">
            <a:avLst/>
          </a:prstGeom>
          <a:solidFill>
            <a:srgbClr val="EEF2F5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5321808"/>
            <a:ext cx="17373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수요 조사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2788920" y="5321808"/>
            <a:ext cx="448056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토지등소유자 동의율, 분양 희망 수요, 다주택 여부 조사함.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5321808"/>
            <a:ext cx="137160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PM·조합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11480" y="292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붙임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자료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11480" y="63550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 조문은 국가법령정보센터 현행 원문으로 최종 대조해야 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325880"/>
            <a:ext cx="832104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해석: 시장정비사업 공동주택 분양대상자 범위 — 도시정비법 시행령 제63조제1항제3호 단서 준용(강남구 질의, moleg.go.kr cs_seq=434117)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 22-0562(2022.11.15): 주상복합 공급규칙 적용 판단 시 민간건설임대주택 호수 포함 여부(cs_seq=433958)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 22-0481: 민간 사업주체 85㎡ 이하 민영주택 특별공급 가능 여부(21-0780 인용)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해석: 공익사업 철거주택 소유자 국민주택 특별공급대상 인정 범위(규칙 제35조제1항제12호바목, cs_seq=386114)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해석: 상업·제3종일반주거지역 걸친 대지의 사업계획승인 대상 여부(주택법 제15조제1항, 시행령 제27조제4항)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국토교통부 정책Q&amp;A: 지역주택조합 조합원 자격(주택법 시행령 제21조제1항제1호)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건축물의 분양에 관한 법률 시행령 제2조(오피스텔 30실 이상, 2026.4.3 시행본)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파이낸셜뉴스(2026.9.29): 주상복합 500가구 미만 완화 시행령 개정안 입법예고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가로주택정비사업 안내 / 하남시 지역주택조합 설립 요건 안내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검토: 법제처 해석 — 재개발구역 상가 토지등소유자 2주택 공급 가능 여부(도시정비법 제76조제1항제7호라목)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 Redevelopment Review 4x3">
  <a:themeElements>
    <a:clrScheme name="Market Redevelopment Review 4x3">
      <a:dk1>
        <a:srgbClr val="1C2B36"/>
      </a:dk1>
      <a:lt1>
        <a:srgbClr val="FFFFFF"/>
      </a:lt1>
      <a:dk2>
        <a:srgbClr val="1F3A4D"/>
      </a:dk2>
      <a:lt2>
        <a:srgbClr val="EEF2F5"/>
      </a:lt2>
      <a:accent1>
        <a:srgbClr val="1F3A4D"/>
      </a:accent1>
      <a:accent2>
        <a:srgbClr val="B5482F"/>
      </a:accent2>
      <a:accent3>
        <a:srgbClr val="2E7D5B"/>
      </a:accent3>
      <a:accent4>
        <a:srgbClr val="C98A1B"/>
      </a:accent4>
      <a:accent5>
        <a:srgbClr val="5B7A8C"/>
      </a:accent5>
      <a:accent6>
        <a:srgbClr val="8A99A6"/>
      </a:accent6>
      <a:hlink>
        <a:srgbClr val="1F5F8B"/>
      </a:hlink>
      <a:folHlink>
        <a:srgbClr val="5B7A8C"/>
      </a:folHlink>
    </a:clrScheme>
    <a:fontScheme name="Market Redevelopment Review 4x3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시장 재건축 상가 소유주 주택 분양 방안 법적 검증</dc:title>
  <dc:subject>PptxGenJS Presentation</dc:subject>
  <dc:creator>PM 검토</dc:creator>
  <cp:lastModifiedBy>PM 검토</cp:lastModifiedBy>
  <cp:revision>1</cp:revision>
  <dcterms:created xsi:type="dcterms:W3CDTF">2026-10-19T12:29:11Z</dcterms:created>
  <dcterms:modified xsi:type="dcterms:W3CDTF">2026-10-19T12:29:11Z</dcterms:modified>
</cp:coreProperties>
</file>