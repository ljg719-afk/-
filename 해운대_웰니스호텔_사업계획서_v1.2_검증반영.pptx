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52fe120-40f4-c909-9fad-f9ec633d1751}">
          <p14:sldIdLst>
            <p14:sldId id="256"/>
          </p14:sldIdLst>
        </p14:section>
        <p14:section name="I. 사업 개요" id="{6e95315f-60bf-5571-9dbd-f0cd67978eeb}">
          <p14:sldIdLst>
            <p14:sldId id="257"/>
            <p14:sldId id="258"/>
            <p14:sldId id="259"/>
          </p14:sldIdLst>
        </p14:section>
        <p14:section name="II. 시장 분석" id="{0628956f-8236-6572-f167-b3ca93afea9a}">
          <p14:sldIdLst>
            <p14:sldId id="260"/>
            <p14:sldId id="261"/>
            <p14:sldId id="262"/>
            <p14:sldId id="263"/>
            <p14:sldId id="264"/>
          </p14:sldIdLst>
        </p14:section>
        <p14:section name="III. 사업 계획" id="{771283ab-6542-5692-df0e-2ccf745873f6}">
          <p14:sldIdLst>
            <p14:sldId id="265"/>
            <p14:sldId id="266"/>
            <p14:sldId id="267"/>
            <p14:sldId id="268"/>
            <p14:sldId id="269"/>
          </p14:sldIdLst>
        </p14:section>
        <p14:section name="IV. 사업 수지" id="{c6c12adb-8b0e-2d10-c788-1cda7f07ad1e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V. 리스크 관리" id="{6fdec339-40a4-e0cc-f957-a428fd59dce3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D3E"/>
                </a:solidFill>
                <a:latin typeface="+mn-lt"/>
              </a:rPr>
              <a:t>부산 외국인 의료관광객 (명)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부산 외국인 의료관광객</c:v>
                </c:pt>
              </c:strCache>
            </c:strRef>
          </c:tx>
          <c:spPr>
            <a:solidFill>
              <a:srgbClr val="0F3D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12912</c:v>
                </c:pt>
                <c:pt idx="1">
                  <c:v>30165</c:v>
                </c:pt>
                <c:pt idx="2">
                  <c:v>75879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D3E"/>
                </a:solidFill>
                <a:latin typeface="+mn-lt"/>
              </a:rPr>
              <a:t>2025 국적별 비중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국적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3D3E"/>
              </a:solidFill>
              <a:effectLst/>
            </c:spPr>
          </c:dPt>
          <c:dPt>
            <c:idx val="1"/>
            <c:bubble3D val="0"/>
            <c:spPr>
              <a:solidFill>
                <a:srgbClr val="5E8C83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9BB8B1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대만</c:v>
                </c:pt>
                <c:pt idx="1">
                  <c:v>일본</c:v>
                </c:pt>
                <c:pt idx="2">
                  <c:v>중국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37.4</c:v>
                </c:pt>
                <c:pt idx="1">
                  <c:v>22.2</c:v>
                </c:pt>
                <c:pt idx="2">
                  <c:v>15</c:v>
                </c:pt>
                <c:pt idx="3">
                  <c:v>25.4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D3E"/>
                </a:solidFill>
                <a:latin typeface="+mn-lt"/>
              </a:rPr>
              <a:t>월별 OCC 계획 (호텔,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</c:v>
                </c:pt>
              </c:strCache>
            </c:strRef>
          </c:tx>
          <c:spPr>
            <a:solidFill>
              <a:srgbClr val="5E8C8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</c:v>
                </c:pt>
                <c:pt idx="1">
                  <c:v>67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79</c:v>
                </c:pt>
                <c:pt idx="6">
                  <c:v>77</c:v>
                </c:pt>
                <c:pt idx="7">
                  <c:v>78</c:v>
                </c:pt>
                <c:pt idx="8">
                  <c:v>76</c:v>
                </c:pt>
                <c:pt idx="9">
                  <c:v>82</c:v>
                </c:pt>
                <c:pt idx="10">
                  <c:v>84</c:v>
                </c:pt>
                <c:pt idx="1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50"/>
        </c:scaling>
        <c:delete val="0"/>
        <c:axPos val="l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D3E"/>
                </a:solidFill>
                <a:latin typeface="+mn-lt"/>
              </a:rPr>
              <a:t>안정화 매출 194.7억원 (보고서 가정)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0F3D3E"/>
            </a:solidFill>
            <a:effectLst/>
          </c:spPr>
          <c:invertIfNegative val="0"/>
          <c:dLbls>
            <c:numFmt formatCode="0.0&quot;억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8C8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객실</c:v>
                  </c:pt>
                  <c:pt idx="1">
                    <c:v>웰니스/클리닉</c:v>
                  </c:pt>
                  <c:pt idx="2">
                    <c:v>F&amp;B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115.9</c:v>
                </c:pt>
                <c:pt idx="1">
                  <c:v>57.9</c:v>
                </c:pt>
                <c:pt idx="2">
                  <c:v>20.9</c:v>
                </c:pt>
              </c:numCache>
            </c:numRef>
          </c:val>
        </c:ser>
        <c:dLbls>
          <c:numFmt formatCode="0.0&quot;억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D3E"/>
                </a:solidFill>
                <a:latin typeface="+mn-lt"/>
              </a:rPr>
              <a:t>보고서 사업비 1,380억원 (억원)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사업비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B8B1"/>
              </a:solidFill>
              <a:effectLst/>
            </c:spPr>
          </c:dPt>
          <c:dPt>
            <c:idx val="1"/>
            <c:bubble3D val="0"/>
            <c:spPr>
              <a:solidFill>
                <a:srgbClr val="0F3D3E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5E8C83"/>
              </a:solidFill>
              <a:effectLst/>
            </c:spPr>
          </c:dPt>
          <c:dLbls>
            <c:dLbl>
              <c:idx val="0"/>
              <c:numFmt formatCode="#,##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토지(감정가)</c:v>
                </c:pt>
                <c:pt idx="1">
                  <c:v>공사(2년)</c:v>
                </c:pt>
                <c:pt idx="2">
                  <c:v>금융</c:v>
                </c:pt>
                <c:pt idx="3">
                  <c:v>운영/예비비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500</c:v>
                </c:pt>
                <c:pt idx="1">
                  <c:v>755</c:v>
                </c:pt>
                <c:pt idx="2">
                  <c:v>59.3</c:v>
                </c:pt>
                <c:pt idx="3">
                  <c:v>65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D3E"/>
                </a:solidFill>
                <a:latin typeface="+mn-lt"/>
              </a:rPr>
              <a:t>운영기 NOI (억원)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NOI</c:v>
                </c:pt>
              </c:strCache>
            </c:strRef>
          </c:tx>
          <c:spPr>
            <a:solidFill>
              <a:srgbClr val="0F3D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53.2</c:v>
                </c:pt>
                <c:pt idx="1">
                  <c:v>66.2</c:v>
                </c:pt>
                <c:pt idx="2">
                  <c:v>67.2</c:v>
                </c:pt>
                <c:pt idx="3">
                  <c:v>68.3</c:v>
                </c:pt>
                <c:pt idx="4">
                  <c:v>69.3</c:v>
                </c:pt>
                <c:pt idx="5">
                  <c:v>70.4</c:v>
                </c:pt>
                <c:pt idx="6">
                  <c:v>71.6</c:v>
                </c:pt>
                <c:pt idx="7">
                  <c:v>72.7</c:v>
                </c:pt>
                <c:pt idx="8">
                  <c:v>73.9</c:v>
                </c:pt>
                <c:pt idx="9">
                  <c:v>75.1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D3E"/>
                </a:solidFill>
                <a:latin typeface="+mn-lt"/>
              </a:rPr>
              <a:t>PF 금리별 Equity IRR (보고서 모델)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IRR</c:v>
                </c:pt>
              </c:strCache>
            </c:strRef>
          </c:tx>
          <c:spPr>
            <a:solidFill>
              <a:srgbClr val="5E8C83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6.0%</c:v>
                  </c:pt>
                  <c:pt idx="1">
                    <c:v>6.5%</c:v>
                  </c:pt>
                  <c:pt idx="2">
                    <c:v>7.0%</c:v>
                  </c:pt>
                  <c:pt idx="3">
                    <c:v>7.5%</c:v>
                  </c:pt>
                  <c:pt idx="4">
                    <c:v>8.0%</c:v>
                  </c:pt>
                  <c:pt idx="5">
                    <c:v>9.0%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17.64</c:v>
                </c:pt>
                <c:pt idx="1">
                  <c:v>17.41</c:v>
                </c:pt>
                <c:pt idx="2">
                  <c:v>17.18</c:v>
                </c:pt>
                <c:pt idx="3">
                  <c:v>16.96</c:v>
                </c:pt>
                <c:pt idx="4">
                  <c:v>16.73</c:v>
                </c:pt>
                <c:pt idx="5">
                  <c:v>16.28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.5"/>
          <c:min val="14"/>
        </c:scaling>
        <c:delete val="0"/>
        <c:axPos val="l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3D3E"/>
                </a:solidFill>
                <a:latin typeface="+mn-lt"/>
              </a:rPr>
              <a:t>DSCR 달성 필요 판매율 (Y1, 480구좌 기준)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판매율</c:v>
                </c:pt>
              </c:strCache>
            </c:strRef>
          </c:tx>
          <c:spPr>
            <a:solidFill>
              <a:srgbClr val="0F3D3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DSCR 1.0x</c:v>
                  </c:pt>
                  <c:pt idx="1">
                    <c:v>DSCR 1.5x</c:v>
                  </c:pt>
                  <c:pt idx="2">
                    <c:v>DSCR 2.0x</c:v>
                  </c:pt>
                  <c:pt idx="3">
                    <c:v>DSCR 3.0x</c:v>
                  </c:pt>
                  <c:pt idx="4">
                    <c:v>DSCR 4.0x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34.8</c:v>
                </c:pt>
                <c:pt idx="1">
                  <c:v>60.6</c:v>
                </c:pt>
                <c:pt idx="2">
                  <c:v>75.2</c:v>
                </c:pt>
                <c:pt idx="3">
                  <c:v>91.1</c:v>
                </c:pt>
                <c:pt idx="4">
                  <c:v>99.7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B8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</a:rPr>
              <a:t>해운대 Wellness Tourism Hotel 사업계획서 | 검증 반영본 v1.2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B8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9A227"/>
                </a:solidFill>
              </a:rPr>
              <a:t>HAEUNDAE / BUSAN / BUSINESS PLAN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해운대 Wellness Tourism Hotel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사업계획서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8B1"/>
                </a:solidFill>
              </a:rPr>
              <a:t>검증 반영 수정본 v1.2  |  2026년 10월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210실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8B1"/>
                </a:solidFill>
              </a:rPr>
              <a:t>관광호텔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4937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40실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8B1"/>
                </a:solidFill>
              </a:rPr>
              <a:t>휴양콘도 (480구좌)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4937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1,380억원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8B1"/>
                </a:solidFill>
              </a:rPr>
              <a:t>총사업비 (재산정 필요)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사업 요약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해운대역 인접 210실 호텔과 40실 공유 콘도를 결합한 웰니스 숙박 사업임.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013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194.7억원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04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안정화 매출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(보고서 가정)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18013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53~75억원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404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NOI (Y1~Y10)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8013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17.18%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404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Equity IRR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(PF 7% 모델 기준)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18013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4.05x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4048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Y1 DSCR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(PF 잔액 187.9억원)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v1.1 대비 주요 변경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66160"/>
            <a:ext cx="82296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NOI 표기 정정: 194억원·208.4억원은 매출임. NOI는 53.2~75.1억원으로 정정함.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PF 잔액 187.9억원, IRR 17.18%로 통일함. DSCR·민감도와 정합하는 값임.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"4.5성급" 표현 삭제함. 공식 등급은 1~5성 체계임.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시장 통계를 공식 발표치로 정정함. 일회성 행사는 반복 수요에서 제외함.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멤버십 모집 시기를 관광진흥법 요건(공정률 20%)에 맞춰 재정리함.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조달·사업비 불일치와 누락 비용은 재산정 과제로 명시함.</a:t>
            </a:r>
            <a:endParaRPr lang="en-US" sz="1300" dirty="0"/>
          </a:p>
        </p:txBody>
      </p:sp>
      <p:sp>
        <p:nvSpPr>
          <p:cNvPr id="18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사업 건축 개요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해운대구 우동 관광숙박시설 신축사업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대지 위치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 해운대구 우동 542-2, 530-9 (2필지)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v1.1 p.6 "524-2" 오기. 등기부 확인 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대지 면적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1,658.00㎡ (501.54평)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관광호텔 / 휴양콘도 / 근린생활시설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관광사업 업종별 등록 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지하 5층 ~ 지상 23층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연면적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23,574.93㎡ (7,131.42평)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지상 16,574.93㎡ / 지하 7,000㎡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건폐율 / 용적률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48.55% / 999.69%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142대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법정 129대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 210실 + 콘도 40실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타입 합계 208실. 확정 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※ 객실 타입: 슈페리얼 188실, 디럭스 6실, 스위트 14실 = 208실 (v1.1 p.24). 210실과 2실 차이가 있음.</a:t>
            </a:r>
            <a:endParaRPr lang="en-US" sz="1000" dirty="0"/>
          </a:p>
        </p:txBody>
      </p:sp>
      <p:sp>
        <p:nvSpPr>
          <p:cNvPr id="5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입지 환경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지하철 2호선 해운대역과 해운대해수욕장 사이 핵심 관광 동선에 위치함.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사업지 접근성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해운대역 4번 출구 인접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해운대로(20~30m) 접면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북측 해운대 그린레일웨이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동측 (구)해운대역사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69164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광역 교통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19456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김해공항: 국제선 여객 국내 2위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KTX 서울~부산 약 2시간 15분~45분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해운대 일대 숙박·관광 인프라 집적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40416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부산시 일반 현황 (정정)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43484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주민등록인구 326.7만명 (2024년 말). v1.1의 "390만(김해 포함)"은 오류로 삭제함.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행정구역 15구 1군. 김해시는 경상남도로 부산 인구에 포함하지 않음.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외국인 주민 수와 면적은 공식 통계 재확인 후 기재함.</a:t>
            </a:r>
            <a:endParaRPr lang="en-US" sz="1200" dirty="0"/>
          </a:p>
        </p:txBody>
      </p:sp>
      <p:sp>
        <p:nvSpPr>
          <p:cNvPr id="13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II. 시장 분석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8B1"/>
                </a:solidFill>
              </a:rPr>
              <a:t>공식 발표 통계 기준으로 재작성함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B8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부산 의료관광객 2년 새 5.9배 증가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212080" y="1188720"/>
          <a:ext cx="3474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212080" y="4206240"/>
            <a:ext cx="3474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2025년 75,879명, 전년 대비 151.5% 증가함.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피부과 비중 67%임.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2030년 10만명 목표의 조기 달성이 전망됨.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출처: 부산시 발표(2026.5.4). 2023년 수치는 12,912명으로 정정함(v1.1 12,000명).</a:t>
            </a:r>
            <a:endParaRPr lang="en-US" sz="1000" dirty="0"/>
          </a:p>
        </p:txBody>
      </p:sp>
      <p:sp>
        <p:nvSpPr>
          <p:cNvPr id="7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외국인 환자 사상 첫 200만명 돌파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898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2,011,822명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2025 전국 외국인 환자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8980" y="128016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68980" y="13898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+71.9%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360420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전년 대비 증가율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28016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3898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131.3만명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피부과 (62.9%)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4937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 비중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시사점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87.2%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수도권 집중 지속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서울에 이어 전국 2위. 비수도권 1위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80060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49103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1인당 지출 811만원 (일반 관광객의 4배)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5303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부산 통계가 아님. 전국·2024년 기준 국가관광전략회의 수치임. 인용 시 출처를 명기함.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출처: 보건복지부(2026.4.24), 메디포뉴스·코메디닷컴 보도.</a:t>
            </a:r>
            <a:endParaRPr lang="en-US" sz="1000" dirty="0"/>
          </a:p>
        </p:txBody>
      </p:sp>
      <p:sp>
        <p:nvSpPr>
          <p:cNvPr id="17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해운대 관광 수요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898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999만명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해운대해수욕장 방문객 (2025)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39776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3898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1,000만명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9933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블루라인파크 누적 이용객 (외국인 48%)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776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852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수요 특성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46120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연 1,000만명 안팎의 해변 방문 수요가 형성됨.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블루라인파크는 개장 5년 만에 누적 1,000만명을 돌파함.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외국인 비중이 높은 관광 콘텐츠가 집적됨.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743200"/>
            <a:ext cx="39776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852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정정 사항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46120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v1.1 "해운대 연 1,400만명 방문"은 근거가 확인되지 않아 삭제함.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해수욕장 방문객은 매체별 표기가 엇갈려 해운대구 원문 확인이 필요함.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출처: 해운대구 집계 보도(2026.7), 블루라인파크 누적 이용 보도(2026.7.15).</a:t>
            </a:r>
            <a:endParaRPr lang="en-US" sz="1000" dirty="0"/>
          </a:p>
        </p:txBody>
      </p:sp>
      <p:sp>
        <p:nvSpPr>
          <p:cNvPr id="16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경쟁 숙박시설 요금 비교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737360"/>
                <a:gridCol w="26517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공식 등급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요금 (1박)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파크 하얏트 부산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33만원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v1.1 90~100만원은 과대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시그니엘 부산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5성 (플랫폼)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35~36만원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v1.1 상단 70만원 과대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조선 부산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5성 (플랫폼)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24~27만원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해수욕장 인접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파라다이스 호텔 부산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5성 (플랫폼)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25만원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세금 포함 약 30만원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L7 해운대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v1.1 "4.5성급"은 오류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메종드리치190 (라비앙즈)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3성 (플랫폼)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10.4~16.9만원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인접 생활숙박시설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사업 (가정)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4성 목표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ADR 21만원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셀렉트 서비스 브랜드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8229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국내 공식 호텔등급은 1~5성 체계임. "4.5성급" 표현은 사용하지 않음.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본 사업 ADR 21만원은 5성 하단과 인접 생활숙박시설 사이 가격대임. 근거 보완이 필요함.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※ 요금은 예약 사이트 특정 일자 표시가 기준임. 시장조사 시 조회 일자와 채널을 명기해야 함.</a:t>
            </a:r>
            <a:endParaRPr lang="en-US" sz="1000" dirty="0"/>
          </a:p>
        </p:txBody>
      </p:sp>
      <p:sp>
        <p:nvSpPr>
          <p:cNvPr id="6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III. 사업 계획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8B1"/>
                </a:solidFill>
              </a:rPr>
              <a:t>상품 구성 · 브랜드 · 수요 확보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B8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층별 상품 구성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88720" cy="512064"/>
          </a:xfrm>
          <a:prstGeom prst="roundRect">
            <a:avLst>
              <a:gd name="adj" fmla="val 10714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23F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2344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스카이라운지 · 인피니티풀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37944"/>
            <a:ext cx="1188720" cy="512064"/>
          </a:xfrm>
          <a:prstGeom prst="roundRect">
            <a:avLst>
              <a:gd name="adj" fmla="val 10714"/>
            </a:avLst>
          </a:prstGeom>
          <a:solidFill>
            <a:srgbClr val="5E8C8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3794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19~22F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8379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휴양콘도 40실 (12구좌 공유)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1188720" cy="512064"/>
          </a:xfrm>
          <a:prstGeom prst="roundRect">
            <a:avLst>
              <a:gd name="adj" fmla="val 10714"/>
            </a:avLst>
          </a:prstGeom>
          <a:solidFill>
            <a:srgbClr val="0F3D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44144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17~18F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4414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스위트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1188720" cy="512064"/>
          </a:xfrm>
          <a:prstGeom prst="roundRect">
            <a:avLst>
              <a:gd name="adj" fmla="val 10714"/>
            </a:avLst>
          </a:prstGeom>
          <a:solidFill>
            <a:srgbClr val="0F3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0449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8~16F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04495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슈페리얼 · 디럭스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48456"/>
            <a:ext cx="1188720" cy="512064"/>
          </a:xfrm>
          <a:prstGeom prst="roundRect">
            <a:avLst>
              <a:gd name="adj" fmla="val 10714"/>
            </a:avLst>
          </a:prstGeom>
          <a:solidFill>
            <a:srgbClr val="5E8C8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64845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5~7F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6484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웰니스 (습식 · 건식 · 피부 케어)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1188720" cy="512064"/>
          </a:xfrm>
          <a:prstGeom prst="roundRect">
            <a:avLst>
              <a:gd name="adj" fmla="val 10714"/>
            </a:avLst>
          </a:prstGeom>
          <a:solidFill>
            <a:srgbClr val="9BB8B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2519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3~4F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2519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연회장 · 투숙객 식당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855464"/>
            <a:ext cx="1188720" cy="512064"/>
          </a:xfrm>
          <a:prstGeom prst="roundRect">
            <a:avLst>
              <a:gd name="adj" fmla="val 10714"/>
            </a:avLst>
          </a:prstGeom>
          <a:solidFill>
            <a:srgbClr val="9BB8B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8554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1~2F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8554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3"/>
                </a:solidFill>
              </a:rPr>
              <a:t>로비 · 근린생활시설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12344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7800" y="1344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호텔 객실 구성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173736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슈페리얼 188실 (89%)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디럭스 6실 (3%)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스위트 14실 (7%)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합계 208실. 210실과 차이 확정 필요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20640" y="36118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57800" y="3721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운영 파트너 (협의 단계)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41148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호텔: 포포인츠 바이 쉐라톤 1차 협의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메리어트 Classic Select 등급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IoT 통합관리: LG전자 · 하이엠솔루텍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※ 파트너사는 v1.1 기준 협의 단계임. 계약 체결 사실이 아님.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타깃 고객과 체류 상품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0352" y="1325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Beauty Traveler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82880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25~45세 · 피부+관광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5146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21408" y="12344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1325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Medical Tourist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82880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대만·일본·중국 · 진료+회복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5146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2~3박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85616" y="12344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8768" y="1325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Wellness Seeker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58768" y="182880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30~60세 · 수면+스파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25146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1~2박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49824" y="12344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22976" y="1325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Couple/Family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22976" y="182880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국내외 · 관광+웰니스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522976" y="25146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1~2박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14032" y="12344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87184" y="13258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MICE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87184" y="182880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기업·행사 · Recovery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25146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1~2박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35661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NIGHT RESET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피부 컨설팅 + Sleep Recovery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입문 상품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NIGHT BEAUTY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피부 + 회복 + 관광 + F&amp;B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상품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NIGHT MEDICAL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의료 + 피부 + 회복 + 동반자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Medical Stay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MICE RECOVERY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행사 + 수면 + Recovery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비수기 보완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WEEKEND WELLNESS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스파 + 다이닝 + 바다 + 수면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내국인 확장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반복 수요 행사 Anchor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566160"/>
                <a:gridCol w="219456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행사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부산국제보트쇼 · BAMA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수요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해운대 모래축제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수요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부산모빌리티쇼 · BOF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모빌리티쇼 격년(짝수 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홀수 해 별도 추정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세계유산위원회(2026)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일회성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수요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세계도서관정보대회(2026) · 부산바다축제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WLIC 일회성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WLIC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월드 스마트시티 엑스포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2026년 부산 BEXCO 개최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개최지 지속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부산국제영화제 · BPAM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BPAM 9~10월 변동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수요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G-STAR · 부산불꽃축제 · 수산엑스포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수요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93776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일회성 국제행사 2건은 7~8월 OCC 근거에서 제외함.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7~8월은 해수욕장 성수기 수요를 근거로 재산정함.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출처: UNESCO, IFLA, 부산시, MTN·헤럴드 보도(2026).</a:t>
            </a:r>
            <a:endParaRPr lang="en-US" sz="1000" dirty="0"/>
          </a:p>
        </p:txBody>
      </p:sp>
      <p:sp>
        <p:nvSpPr>
          <p:cNvPr id="6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월별 객실 가동률 계획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61772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47274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72.0%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30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Base Case (사업수지 적용)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461772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46120" y="47274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75.1%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5330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Upside (월별 계획 평균)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461772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72200" y="4727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검증 의견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5120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부산 관광호텔 OCC 공식 통계 확보 후 보완 필요</a:t>
            </a:r>
            <a:endParaRPr lang="en-US" sz="1200" dirty="0"/>
          </a:p>
        </p:txBody>
      </p:sp>
      <p:sp>
        <p:nvSpPr>
          <p:cNvPr id="13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IV. 사업 수지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8B1"/>
                </a:solidFill>
              </a:rPr>
              <a:t>매출 · 사업비 · 조달 · 수익성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B8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안정화 매출 구조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892040" y="1188720"/>
            <a:ext cx="37947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029200" y="12984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산정 근거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69164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객실: 210실 × ADR 21만원 × 365일 × OCC 72% = 115.9억원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GOP 42% 적용 시 81.8억원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194.7억원은 매출임. NOI가 아님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시나리오 (산식 기준)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보고서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194.7억원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ADR 17만원 (인접 시설 상단 수준)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172.6억원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-22.1억원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웰니스 매출 50% 감액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165.8억원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-29.0억원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※ 웰니스 비중 약 30%는 업계 스파 매출 비중(CBRE 2024 3.4%, HVS 2019 럭셔리 7.4%) 대비 높음. 근거 보완 필요.</a:t>
            </a:r>
            <a:endParaRPr lang="en-US" sz="1000" dirty="0"/>
          </a:p>
        </p:txBody>
      </p:sp>
      <p:sp>
        <p:nvSpPr>
          <p:cNvPr id="9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총사업비와 누락 비용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3840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51560"/>
                <a:gridCol w="1417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 반영 필요 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 취득세 (4.6%)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23.0억원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감정가 500억원 × 4.6%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 원시취득세 (3.16%)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23.9억원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755억원 × 3.16%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설계·감리비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회원모집 수수료·보증보험료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 수수료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개관 전 비용·FF&amp;E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480560" y="4343400"/>
            <a:ext cx="42062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공사비는 평당 약 1,059만원으로 업계 보도 범위(1,000~1,500만원) 하단임.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취득세 2건만 반영해도 약 46.9억원이 추가됨.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※ 취득세율은 지방세법 제11조 기준. 과세표준 확정 시 금액이 달라질 수 있음.</a:t>
            </a:r>
            <a:endParaRPr lang="en-US" sz="1000" dirty="0"/>
          </a:p>
        </p:txBody>
      </p:sp>
      <p:sp>
        <p:nvSpPr>
          <p:cNvPr id="7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자금 조달 구조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441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830억원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47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PF 대출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8980" y="123444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68980" y="13441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672억원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360420" y="1947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멤버십 입회금 (40실 × 12구좌 × 1.4억원)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3441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350억원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947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에쿼티 (토지 매입비 포함)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9776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7614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정합성 점검 결과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154680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조달 합계 1,852억원이 사업비 1,380억원보다 472억원 많음.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멤버십이 사업비 조달과 PF 상환에 이중 계상된 것으로 추정됨.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운영기 구성 1,180억원은 사업비보다 200억원 부족함.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651760"/>
            <a:ext cx="39776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27614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수정 방향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154680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멤버십 유입을 공정률에 연동한 월별 자금수지표를 작성함.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운영기 PF 잔액을 187.9억원으로 통일함.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누락 비용 반영 후 에쿼티·PF 규모를 재산정함.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※ 본 장의 조달 금액은 v1.1 수치이며 재산정 전 값임.</a:t>
            </a:r>
            <a:endParaRPr lang="en-US" sz="1000" dirty="0"/>
          </a:p>
        </p:txBody>
      </p:sp>
      <p:sp>
        <p:nvSpPr>
          <p:cNvPr id="19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멤버십 구조와 법규 요건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26517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관광진흥법 요건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사업 적용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분양·회원모집 업종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분양은 휴양콘도만. 호텔은 회원모집만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콘도 40실 대상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1실당 인원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이상. 가족만 구성 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12구좌로 충족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이용일수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365일 ÷ 객실당 인원 이내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1구좌당 약 30일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콘도 모집 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공정률 20% 이상부터 공정률 비례 모집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착공 전 선유입 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초과 모집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초과 금액만큼 보증보험 가입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보증보험료 반영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 회원모집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관광사업 등록 후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준공 전 모집 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담보 제약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저당권 말소 원칙. 담보신탁 호텔은 회원모집 불가(법제처 해석례)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 담보구조 재설계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입회금 반환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입회기간 만료 후 반환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11년차 672억원 반환 재원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연회비 수입: 480구좌 × 연 300만원 = 14.4억원/년 (10년)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근거: 관광진흥법 제20조, 시행령 제23·24조, 시행규칙 제26조, 시행령 별표1, 법제처 해석례. 법률자문으로 최종 확인 필요.</a:t>
            </a:r>
            <a:endParaRPr lang="en-US" sz="1000" dirty="0"/>
          </a:p>
        </p:txBody>
      </p:sp>
      <p:sp>
        <p:nvSpPr>
          <p:cNvPr id="6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NOI와 DSCR 추이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  <a:gridCol w="100584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DSCR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4.05x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5.03x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5.27x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5.71x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이자 13.15억원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539496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DSCR은 운영기 PF 잔액 187.9억원 × 7% = 13.15억원 기준으로만 성립함.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v1.1의 "PF 잔액 158.1억원, 이자 11.07억원" 표기는 정정함.</a:t>
            </a:r>
            <a:endParaRPr lang="en-US" sz="1200" dirty="0"/>
          </a:p>
        </p:txBody>
      </p:sp>
      <p:sp>
        <p:nvSpPr>
          <p:cNvPr id="6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PF 금리 민감도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06440" y="1234440"/>
            <a:ext cx="2880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806440" y="13441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17.18% → 16.28%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9476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IRR (금리 7% → 9%)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06440" y="2606040"/>
            <a:ext cx="2880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06440" y="2715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4.05x → 3.15x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33192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Min DSCR (금리 7% → 9%)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3977640"/>
            <a:ext cx="2880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4087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검증 의견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44805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p.3의 IRR 22.4%는 모델과 불일치하여 삭제함.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단순 재계산 시 IRR 약 13.6~18.9% 범위임.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※ 재계산은 공개 수치 기반 단순 추정임(공사 2년 반영 여부에 따라 범위 차이). 원 재무모델 검증이 필요함.</a:t>
            </a:r>
            <a:endParaRPr lang="en-US" sz="1000" dirty="0"/>
          </a:p>
        </p:txBody>
      </p:sp>
      <p:sp>
        <p:nvSpPr>
          <p:cNvPr id="14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매각(Exit) 시나리오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</a:rPr>
              <a:t>76.3억원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Y11 Forward NOI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21408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21408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</a:rPr>
              <a:t>1,453.3억원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21408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Cap 5.25% 매각가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85616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85616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-187.9억원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85616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PF 상환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9824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49824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-672억원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49824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입회금 반환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14032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F3D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14032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593.4억원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8B1"/>
                </a:solidFill>
              </a:rPr>
              <a:t>순 Equity 회수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39776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1729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정정 사항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56616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v1.1 순회수액 622.6억원은 PF 잔액 158.1억원 기준임.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모델 정합 값 187.9억원 적용 시 593.4억원임.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매각 거래비용은 미반영 상태임.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39776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1729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Cap rate 리스크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6616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부산 호텔 Cap rate 공식 자료는 미확보임.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신라스테이 해운대 매각 입찰은 응찰자가 없어 리파이낸싱으로 전환됨.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Cap rate 상향 시나리오 추가가 필요함.</a:t>
            </a:r>
            <a:endParaRPr lang="en-US" sz="1200" dirty="0"/>
          </a:p>
        </p:txBody>
      </p:sp>
      <p:sp>
        <p:nvSpPr>
          <p:cNvPr id="24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멤버십 판매율과 DSCR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06440" y="1234440"/>
            <a:ext cx="2880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806440" y="13441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291구좌 (60.6%)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9476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DSCR 1.5x 최소 요구 판매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06440" y="2606040"/>
            <a:ext cx="2880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06440" y="2715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</a:rPr>
              <a:t>50.7%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33192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인접 메종드리치190 분양률 (2024년 말)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3977640"/>
            <a:ext cx="2880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4087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시사점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44805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인접 사례 실적이 최소 요구 판매율에 미달함.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판매율 50% 하방 시나리오를 추가함.</a:t>
            </a:r>
            <a:endParaRPr lang="en-US" sz="1200" dirty="0"/>
          </a:p>
        </p:txBody>
      </p:sp>
      <p:sp>
        <p:nvSpPr>
          <p:cNvPr id="13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V. 유사사례와 리스크 관리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8B1"/>
                </a:solidFill>
              </a:rPr>
              <a:t>인접 사업지 사례 · 리스크 대응 · 향후 과제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B8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인접 사례: 메종드리치190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해운대해변로209번나길 56 · 생활숙박시설 190실 · 지하 6층~지상 29층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 주체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 더지음개발 · 시공 군장종합건설 · 신탁 KB부동산신탁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2021.11 650억원 (A 450억원 메리츠 계열 선순위)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착공 2022.3 · 입주 예정 2024.12 → 사용승인 2025.3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분양률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착공 시 43.4% → 2024년 말 50.7% (업계 안정선 70% 미달)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분양미수금 108억원(1년 새 +83%) · PF 만기 연장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라비앙즈 메종드 해운대 · 표시 요금 10.4~16.9만원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52628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463600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본 사업 시사점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029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동일 상권에서 선수금 의존 구조가 분양률 50% 수준에서 막힌 사례임. 멤버십 판매 계획에 보수적 가정이 필요함.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B7A"/>
                </a:solidFill>
              </a:rPr>
              <a:t>출처: 딜사이트(2025.5), 산군, 야놀자. 분양가·확정수익 조건은 공식 자료 미확인.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주요 리스크와 대응 방안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대응 방안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회원모집 시기·담보 제약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공정률 연동 모집, 보증보험 가입, 법률자문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멤버십 판매율 미달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판매율 50% 하방 시나리오, 법인 회원 선확보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11년차 입회금 672억원 반환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반환 적립금 또는 재모집 계획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변동·공기 지연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GMP 계약, 단계별 유보금, 공정 근거 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 등록·인허가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지자체 사전협의, 업종별 등록기준 검토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브랜드 운영 성과 미달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Incentive Fee 연동, KPI 기반 해지권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웰니스 매출·ADR 미달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비중 하향 시나리오, 객실 중심 수지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 금리 상승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고정금리 트랜치 혼합, 금리 9% 민감도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 rate 상승·매각 지연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 rate 상향 시나리오, 장기 보유 대안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추가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사업 추진 일정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25400">
            <a:solidFill>
              <a:srgbClr val="9BB8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0F3D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</a:rPr>
              <a:t>2027 1Q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토지 매입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인허가 완료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965960"/>
            <a:ext cx="365760" cy="365760"/>
          </a:xfrm>
          <a:prstGeom prst="ellipse">
            <a:avLst/>
          </a:prstGeom>
          <a:solidFill>
            <a:srgbClr val="0F3D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</a:rPr>
              <a:t>2027 3Q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PF 실행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호텔·웰니스 계약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965960"/>
            <a:ext cx="365760" cy="365760"/>
          </a:xfrm>
          <a:prstGeom prst="ellipse">
            <a:avLst/>
          </a:prstGeom>
          <a:solidFill>
            <a:srgbClr val="0F3D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</a:rPr>
              <a:t>2027 4Q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착공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965960"/>
            <a:ext cx="365760" cy="36576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</a:rPr>
              <a:t>공정률 20%↑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콘도 회원모집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개시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365760" cy="365760"/>
          </a:xfrm>
          <a:prstGeom prst="ellipse">
            <a:avLst/>
          </a:prstGeom>
          <a:solidFill>
            <a:srgbClr val="0F3D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</a:rPr>
              <a:t>2029 4Q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준공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관광사업 등록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1965960"/>
            <a:ext cx="365760" cy="36576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</a:rPr>
              <a:t>2030 1Q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그랜드 오픈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</a:rPr>
              <a:t>호텔 회원모집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6758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일정 검증 의견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06908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콘도 회원모집은 착공 후 공정률 20% 도달 이후 공정률 비례로 가능함.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호텔 회원모집은 준공 후 관광사업 등록 이후에 가능함.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공사기간 24개월(지하 5층·지상 23층)은 짧은 편으로 공정 근거 제시가 필요함.</a:t>
            </a:r>
            <a:endParaRPr lang="en-US" sz="1200" dirty="0"/>
          </a:p>
        </p:txBody>
      </p:sp>
      <p:sp>
        <p:nvSpPr>
          <p:cNvPr id="25" name="tag"/>
          <p:cNvSpPr txBox="1"/>
          <p:nvPr/>
        </p:nvSpPr>
        <p:spPr>
          <a:xfrm>
            <a:off x="7818120" y="457200"/>
            <a:ext cx="8686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검증 반영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향후 보완 과제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184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99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재무모델 통일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PF 잔액·IRR·NOI 표기를 단일 모델로 재작성함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6184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399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사업비 재산정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취득세·설계감리·수수료·FF&amp;E를 반영함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272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07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자금수지 재작성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37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멤버십 유입을 공정률에 연동함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31272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2907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법률자문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337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PF 담보신탁과 회원모집 요건 정합성을 확인함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6360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636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4165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시장 근거 보완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46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ADR·OCC·웰니스 매출 근거를 공식 자료로 보완함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425196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46360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46320" y="4636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44165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하방 시나리오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4846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판매율 50%, ADR·Cap rate 변동을 분석함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검증된 수치로 다시 세우는 해운대 웰니스 플랫폼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8B1"/>
                </a:solidFill>
              </a:rPr>
              <a:t>본 자료는 v1.1 검증 결과를 반영한 수정본임. 재산정 표시 항목은 확정 전 수치임.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eundae Wellness">
  <a:themeElements>
    <a:clrScheme name="Haeundae Wellness">
      <a:dk1>
        <a:srgbClr val="1B1F23"/>
      </a:dk1>
      <a:lt1>
        <a:srgbClr val="FFFFFF"/>
      </a:lt1>
      <a:dk2>
        <a:srgbClr val="0F3D3E"/>
      </a:dk2>
      <a:lt2>
        <a:srgbClr val="EEF4F2"/>
      </a:lt2>
      <a:accent1>
        <a:srgbClr val="0F3D3E"/>
      </a:accent1>
      <a:accent2>
        <a:srgbClr val="C9A227"/>
      </a:accent2>
      <a:accent3>
        <a:srgbClr val="5E8C83"/>
      </a:accent3>
      <a:accent4>
        <a:srgbClr val="C0392B"/>
      </a:accent4>
      <a:accent5>
        <a:srgbClr val="9BB8B1"/>
      </a:accent5>
      <a:accent6>
        <a:srgbClr val="6B7B7A"/>
      </a:accent6>
      <a:hlink>
        <a:srgbClr val="1F6F8B"/>
      </a:hlink>
      <a:folHlink>
        <a:srgbClr val="6B7B7A"/>
      </a:folHlink>
    </a:clrScheme>
    <a:fontScheme name="Haeundae Wellness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해운대 웰니스 관광호텔 사업계획서 (검증 반영본)</dc:title>
  <dc:subject>PptxGenJS Presentation</dc:subject>
  <dc:creator>PptxGenJS</dc:creator>
  <cp:lastModifiedBy>PptxGenJS</cp:lastModifiedBy>
  <cp:revision>1</cp:revision>
  <dcterms:created xsi:type="dcterms:W3CDTF">2026-10-08T09:01:42Z</dcterms:created>
  <dcterms:modified xsi:type="dcterms:W3CDTF">2026-10-08T09:01:42Z</dcterms:modified>
</cp:coreProperties>
</file>