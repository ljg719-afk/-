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ae671ce5-56cf-544c-1dd8-956e6bc72258}">
          <p14:sldIdLst>
            <p14:sldId id="256"/>
          </p14:sldIdLst>
        </p14:section>
        <p14:section name="요약" id="{166f425a-a14e-0ba9-ef70-a151ec02a4fc}">
          <p14:sldIdLst>
            <p14:sldId id="257"/>
          </p14:sldIdLst>
        </p14:section>
        <p14:section name="현황 분석" id="{f29739e3-adef-52e8-bb0f-3831f565190b}">
          <p14:sldIdLst>
            <p14:sldId id="258"/>
          </p14:sldIdLst>
        </p14:section>
        <p14:section name="가설 검증" id="{62b83f9d-54dc-d139-db4e-489fbed511c5}">
          <p14:sldIdLst>
            <p14:sldId id="259"/>
            <p14:sldId id="260"/>
          </p14:sldIdLst>
        </p14:section>
        <p14:section name="대안 검토" id="{547d9b65-6301-af22-8220-ec38893de1a5}">
          <p14:sldIdLst>
            <p14:sldId id="261"/>
            <p14:sldId id="262"/>
            <p14:sldId id="263"/>
            <p14:sldId id="264"/>
            <p14:sldId id="265"/>
          </p14:sldIdLst>
        </p14:section>
        <p14:section name="비교·검증" id="{3b0294ee-f2c0-594d-ccbb-f906566f34a0}">
          <p14:sldIdLst>
            <p14:sldId id="266"/>
            <p14:sldId id="267"/>
          </p14:sldIdLst>
        </p14:section>
        <p14:section name="후속 조치" id="{0c96a106-26e6-e0c2-694e-b3b67b457a37}">
          <p14:sldIdLst>
            <p14:sldId id="268"/>
          </p14:sldIdLst>
        </p14:section>
        <p14:section name="근거" id="{82e9d57c-fc6a-7c60-f3dd-9071ec5a4404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국가법령정보센터 직접 접속 불가로 법제처·국토교통부·언론 공개자료로 대조함. 시행 전 법령 원문 및 인허가권자 확인 필요.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D5DE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A0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법적 검증 보고서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시장(상가) 재건축 시 상가 소유주의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주택(아파트) 분양 가능 방안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5DE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대상: 광명시 소재 상가 재건축(주상복합) PM 사업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5DE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자료: 통화 녹취록(2026.10.19) 및 기 작성 검토 문서(docx)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5DE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작성일: 2026.10.19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결론 요약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건축허가 방식으로는 상가주 아파트 우선 배정이 불가함. 사업 방식 전환이 필요함.</a:t>
            </a:r>
            <a:endParaRPr lang="en-US" sz="1500" dirty="0"/>
          </a:p>
        </p:txBody>
      </p:sp>
      <p:sp>
        <p:nvSpPr>
          <p:cNvPr id="4" name="row 0"/>
          <p:cNvSpPr/>
          <p:nvPr/>
        </p:nvSpPr>
        <p:spPr>
          <a:xfrm>
            <a:off x="548640" y="16002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BEFEC"/>
          </a:solidFill>
          <a:ln w="9525">
            <a:solidFill>
              <a:srgbClr val="FBEF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12801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통화 가설 ①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600200"/>
            <a:ext cx="35661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300세대 미만 건축허가로 추진 시 예외 가능</a:t>
            </a:r>
            <a:endParaRPr lang="en-US" sz="1400" dirty="0"/>
          </a:p>
        </p:txBody>
      </p:sp>
      <p:sp>
        <p:nvSpPr>
          <p:cNvPr id="7" name="chip 불가"/>
          <p:cNvSpPr/>
          <p:nvPr/>
        </p:nvSpPr>
        <p:spPr>
          <a:xfrm>
            <a:off x="5577840" y="180136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B5482F"/>
          </a:solidFill>
          <a:ln w="12700">
            <a:solidFill>
              <a:srgbClr val="B548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577840" y="180136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600200"/>
            <a:ext cx="45720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 30세대 이상이면 「주택공급에 관한 규칙」 적용됨(주택법 제54조제1항)</a:t>
            </a:r>
            <a:endParaRPr lang="en-US" sz="1250" dirty="0"/>
          </a:p>
        </p:txBody>
      </p:sp>
      <p:sp>
        <p:nvSpPr>
          <p:cNvPr id="10" name="row 1"/>
          <p:cNvSpPr/>
          <p:nvPr/>
        </p:nvSpPr>
        <p:spPr>
          <a:xfrm>
            <a:off x="548640" y="2395728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BEFEC"/>
          </a:solidFill>
          <a:ln w="9525">
            <a:solidFill>
              <a:srgbClr val="FBEF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95728"/>
            <a:ext cx="12801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통화 가설 ②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2395728"/>
            <a:ext cx="35661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지자체 특별공급(5%) 물량에 상가주 배정</a:t>
            </a:r>
            <a:endParaRPr lang="en-US" sz="1400" dirty="0"/>
          </a:p>
        </p:txBody>
      </p:sp>
      <p:sp>
        <p:nvSpPr>
          <p:cNvPr id="13" name="chip 불가"/>
          <p:cNvSpPr/>
          <p:nvPr/>
        </p:nvSpPr>
        <p:spPr>
          <a:xfrm>
            <a:off x="5577840" y="2596896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B5482F"/>
          </a:solidFill>
          <a:ln w="12700">
            <a:solidFill>
              <a:srgbClr val="B548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259689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395728"/>
            <a:ext cx="45720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특별공급 대상은 규칙에 열거된 자로 한정됨. 엄격 해석 원칙(법제처 22-0481)</a:t>
            </a:r>
            <a:endParaRPr lang="en-US" sz="1250" dirty="0"/>
          </a:p>
        </p:txBody>
      </p:sp>
      <p:sp>
        <p:nvSpPr>
          <p:cNvPr id="16" name="row 2"/>
          <p:cNvSpPr/>
          <p:nvPr/>
        </p:nvSpPr>
        <p:spPr>
          <a:xfrm>
            <a:off x="548640" y="3191256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191256"/>
            <a:ext cx="12801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①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3191256"/>
            <a:ext cx="35661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시장정비사업(전통시장법) 전환</a:t>
            </a:r>
            <a:endParaRPr lang="en-US" sz="1400" dirty="0"/>
          </a:p>
        </p:txBody>
      </p:sp>
      <p:sp>
        <p:nvSpPr>
          <p:cNvPr id="19" name="chip 조건부 가능"/>
          <p:cNvSpPr/>
          <p:nvPr/>
        </p:nvSpPr>
        <p:spPr>
          <a:xfrm>
            <a:off x="5577840" y="339242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77840" y="339242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가능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3191256"/>
            <a:ext cx="45720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재개발 관리처분 준용. 시·도조례 분양기준 충족 상가주에 한함</a:t>
            </a:r>
            <a:endParaRPr lang="en-US" sz="1250" dirty="0"/>
          </a:p>
        </p:txBody>
      </p:sp>
      <p:sp>
        <p:nvSpPr>
          <p:cNvPr id="22" name="row 3"/>
          <p:cNvSpPr/>
          <p:nvPr/>
        </p:nvSpPr>
        <p:spPr>
          <a:xfrm>
            <a:off x="548640" y="3986784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986784"/>
            <a:ext cx="12801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②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965960" y="3986784"/>
            <a:ext cx="35661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가로주택정비·소규모재개발 전환</a:t>
            </a:r>
            <a:endParaRPr lang="en-US" sz="1400" dirty="0"/>
          </a:p>
        </p:txBody>
      </p:sp>
      <p:sp>
        <p:nvSpPr>
          <p:cNvPr id="25" name="chip 조건부 가능"/>
          <p:cNvSpPr/>
          <p:nvPr/>
        </p:nvSpPr>
        <p:spPr>
          <a:xfrm>
            <a:off x="5577840" y="418795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77840" y="418795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가능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3986784"/>
            <a:ext cx="45720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토지등소유자에게 관리처분·사업시행계획으로 공급. 구역 요건 충족 필요</a:t>
            </a:r>
            <a:endParaRPr lang="en-US" sz="1250" dirty="0"/>
          </a:p>
        </p:txBody>
      </p:sp>
      <p:sp>
        <p:nvSpPr>
          <p:cNvPr id="28" name="row 4"/>
          <p:cNvSpPr/>
          <p:nvPr/>
        </p:nvSpPr>
        <p:spPr>
          <a:xfrm>
            <a:off x="548640" y="4782312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782312"/>
            <a:ext cx="12801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③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965960" y="4782312"/>
            <a:ext cx="35661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지역주택조합 방식</a:t>
            </a:r>
            <a:endParaRPr lang="en-US" sz="1400" dirty="0"/>
          </a:p>
        </p:txBody>
      </p:sp>
      <p:sp>
        <p:nvSpPr>
          <p:cNvPr id="31" name="chip 제한적"/>
          <p:cNvSpPr/>
          <p:nvPr/>
        </p:nvSpPr>
        <p:spPr>
          <a:xfrm>
            <a:off x="5577840" y="498348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77840" y="49834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제한적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4782312"/>
            <a:ext cx="45720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무주택·85㎡ 이하 1주택 세대주, 6개월 거주 요건. 다주택 상가주 배제</a:t>
            </a:r>
            <a:endParaRPr lang="en-US" sz="1250" dirty="0"/>
          </a:p>
        </p:txBody>
      </p:sp>
      <p:sp>
        <p:nvSpPr>
          <p:cNvPr id="34" name="row 5"/>
          <p:cNvSpPr/>
          <p:nvPr/>
        </p:nvSpPr>
        <p:spPr>
          <a:xfrm>
            <a:off x="548640" y="55778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5577840"/>
            <a:ext cx="12801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④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965960" y="5577840"/>
            <a:ext cx="35661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 29세대 이하 / 오피스텔 복합</a:t>
            </a:r>
            <a:endParaRPr lang="en-US" sz="1400" dirty="0"/>
          </a:p>
        </p:txBody>
      </p:sp>
      <p:sp>
        <p:nvSpPr>
          <p:cNvPr id="37" name="chip 제한적"/>
          <p:cNvSpPr/>
          <p:nvPr/>
        </p:nvSpPr>
        <p:spPr>
          <a:xfrm>
            <a:off x="5577840" y="577900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577840" y="577900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제한적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949440" y="5577840"/>
            <a:ext cx="45720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공급규칙 미적용. 단, 오피스텔 30실 이상은 「건축물분양법」 적용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통화 내용 핵심 쟁점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 소유주의 아파트 수분양 요구에 대해 통화 당사자 모두 사례를 확인하지 못함.</a:t>
            </a:r>
            <a:endParaRPr lang="en-US" sz="1500" dirty="0"/>
          </a:p>
        </p:txBody>
      </p:sp>
      <p:sp>
        <p:nvSpPr>
          <p:cNvPr id="4" name="card 0"/>
          <p:cNvSpPr/>
          <p:nvPr/>
        </p:nvSpPr>
        <p:spPr>
          <a:xfrm>
            <a:off x="548640" y="1645920"/>
            <a:ext cx="2615184" cy="201168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5" name="num 1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개요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22860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광명시 상가 재건축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상가를 주상복합으로 개발</a:t>
            </a:r>
            <a:endParaRPr lang="en-US" sz="1400" dirty="0"/>
          </a:p>
        </p:txBody>
      </p:sp>
      <p:sp>
        <p:nvSpPr>
          <p:cNvPr id="9" name="card 1"/>
          <p:cNvSpPr/>
          <p:nvPr/>
        </p:nvSpPr>
        <p:spPr>
          <a:xfrm>
            <a:off x="3364992" y="1645920"/>
            <a:ext cx="2615184" cy="201168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10" name="num 2"/>
          <p:cNvSpPr/>
          <p:nvPr/>
        </p:nvSpPr>
        <p:spPr>
          <a:xfrm>
            <a:off x="3547872" y="1828800"/>
            <a:ext cx="502920" cy="502920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4787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142232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니즈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514600"/>
            <a:ext cx="22860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상가 소유주가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아파트 분양을 희망</a:t>
            </a:r>
            <a:endParaRPr lang="en-US" sz="1400" dirty="0"/>
          </a:p>
        </p:txBody>
      </p:sp>
      <p:sp>
        <p:nvSpPr>
          <p:cNvPr id="14" name="card 2"/>
          <p:cNvSpPr/>
          <p:nvPr/>
        </p:nvSpPr>
        <p:spPr>
          <a:xfrm>
            <a:off x="6181344" y="1645920"/>
            <a:ext cx="2615184" cy="201168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15" name="num 3"/>
          <p:cNvSpPr/>
          <p:nvPr/>
        </p:nvSpPr>
        <p:spPr>
          <a:xfrm>
            <a:off x="6364224" y="1828800"/>
            <a:ext cx="502920" cy="502920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64224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인허가 구상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2514600"/>
            <a:ext cx="22860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300세대 미만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「건축법」 건축허가로 추진</a:t>
            </a:r>
            <a:endParaRPr lang="en-US" sz="1400" dirty="0"/>
          </a:p>
        </p:txBody>
      </p:sp>
      <p:sp>
        <p:nvSpPr>
          <p:cNvPr id="19" name="card 3"/>
          <p:cNvSpPr/>
          <p:nvPr/>
        </p:nvSpPr>
        <p:spPr>
          <a:xfrm>
            <a:off x="8997696" y="1645920"/>
            <a:ext cx="2615184" cy="201168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20" name="num 4"/>
          <p:cNvSpPr/>
          <p:nvPr/>
        </p:nvSpPr>
        <p:spPr>
          <a:xfrm>
            <a:off x="9180576" y="1828800"/>
            <a:ext cx="502920" cy="502920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80576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774936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문의 결과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180576" y="2514600"/>
            <a:ext cx="22860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지자체 특별공급 물량 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5% 이내 배정 가능하다는 의견</a:t>
            </a:r>
            <a:endParaRPr lang="en-US" sz="1400" dirty="0"/>
          </a:p>
        </p:txBody>
      </p:sp>
      <p:sp>
        <p:nvSpPr>
          <p:cNvPr id="24" name="voice box"/>
          <p:cNvSpPr/>
          <p:nvPr/>
        </p:nvSpPr>
        <p:spPr>
          <a:xfrm>
            <a:off x="548640" y="3931920"/>
            <a:ext cx="11064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통화 내 상대방 의견(녹취 기준)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434840"/>
            <a:ext cx="106984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「주택공급에 관한 규칙」상 상가 소유주 아파트 배정은 불가하다는 견해임.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지자체 특별공급 물량은 통상 임대 목적임. 지자체 매입 재원 부족 시 일반분양으로 전환된 사례가 있다고 언급함(부산 화명동, 미검증).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물량을 사전 배정하는 방식은 본 적이 없다는 의견임. 공급규칙 특례 조항 전수 검토 필요성에 공감함.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 ① 검증: 300세대 미만 건축허가 예외론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건축허가 대상이 되는 것과 공급규칙 적용 여부는 별개임. 30세대 이상이면 공급규칙 적용됨.</a:t>
            </a:r>
            <a:endParaRPr lang="en-US" sz="1500" dirty="0"/>
          </a:p>
        </p:txBody>
      </p:sp>
      <p:sp>
        <p:nvSpPr>
          <p:cNvPr id="4" name="step 0"/>
          <p:cNvSpPr/>
          <p:nvPr/>
        </p:nvSpPr>
        <p:spPr>
          <a:xfrm>
            <a:off x="548640" y="164592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5" name="num 1"/>
          <p:cNvSpPr/>
          <p:nvPr/>
        </p:nvSpPr>
        <p:spPr>
          <a:xfrm>
            <a:off x="731520" y="1810512"/>
            <a:ext cx="502920" cy="502920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10512"/>
            <a:ext cx="26517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인허가 절차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68880"/>
            <a:ext cx="315468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상업·준주거지역 300세대 미만 주상복합은 사업계획승인 대신 건축허가 가능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49040"/>
            <a:ext cx="315468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주택법 제15조제1항 단서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시행령 제27조제4항제1호</a:t>
            </a:r>
            <a:endParaRPr lang="en-US" sz="1200" dirty="0"/>
          </a:p>
        </p:txBody>
      </p:sp>
      <p:sp>
        <p:nvSpPr>
          <p:cNvPr id="10" name="arrow 0"/>
          <p:cNvSpPr/>
          <p:nvPr/>
        </p:nvSpPr>
        <p:spPr>
          <a:xfrm rot="5400000">
            <a:off x="4133088" y="2926080"/>
            <a:ext cx="164592" cy="274320"/>
          </a:xfrm>
          <a:prstGeom prst="triangle">
            <a:avLst/>
          </a:prstGeom>
          <a:solidFill>
            <a:srgbClr val="8A99A6"/>
          </a:solidFill>
          <a:ln w="12700">
            <a:solidFill>
              <a:srgbClr val="8A99A6"/>
            </a:solidFill>
            <a:prstDash val="solid"/>
          </a:ln>
        </p:spPr>
      </p:sp>
      <p:sp>
        <p:nvSpPr>
          <p:cNvPr id="11" name="step 1"/>
          <p:cNvSpPr/>
          <p:nvPr/>
        </p:nvSpPr>
        <p:spPr>
          <a:xfrm>
            <a:off x="4343400" y="164592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12" name="num 2"/>
          <p:cNvSpPr/>
          <p:nvPr/>
        </p:nvSpPr>
        <p:spPr>
          <a:xfrm>
            <a:off x="4526280" y="1810512"/>
            <a:ext cx="502920" cy="502920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1810512"/>
            <a:ext cx="26517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 규율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468880"/>
            <a:ext cx="315468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건축허가 건축주라도 주택을 법 제15조제1항 호수 이상 공급하면 '사업주체'에 포함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749040"/>
            <a:ext cx="315468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주택법 제54조제1항</a:t>
            </a:r>
            <a:endParaRPr lang="en-US" sz="1200" dirty="0"/>
          </a:p>
        </p:txBody>
      </p:sp>
      <p:sp>
        <p:nvSpPr>
          <p:cNvPr id="17" name="arrow 1"/>
          <p:cNvSpPr/>
          <p:nvPr/>
        </p:nvSpPr>
        <p:spPr>
          <a:xfrm rot="5400000">
            <a:off x="7927848" y="2926080"/>
            <a:ext cx="164592" cy="274320"/>
          </a:xfrm>
          <a:prstGeom prst="triangle">
            <a:avLst/>
          </a:prstGeom>
          <a:solidFill>
            <a:srgbClr val="8A99A6"/>
          </a:solidFill>
          <a:ln w="12700">
            <a:solidFill>
              <a:srgbClr val="8A99A6"/>
            </a:solidFill>
            <a:prstDash val="solid"/>
          </a:ln>
        </p:spPr>
      </p:sp>
      <p:sp>
        <p:nvSpPr>
          <p:cNvPr id="18" name="step 2"/>
          <p:cNvSpPr/>
          <p:nvPr/>
        </p:nvSpPr>
        <p:spPr>
          <a:xfrm>
            <a:off x="8138160" y="164592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BEFEC"/>
          </a:solidFill>
          <a:ln w="9525">
            <a:solidFill>
              <a:srgbClr val="FBEFEC"/>
            </a:solidFill>
            <a:prstDash val="solid"/>
          </a:ln>
        </p:spPr>
      </p:sp>
      <p:sp>
        <p:nvSpPr>
          <p:cNvPr id="19" name="num 3"/>
          <p:cNvSpPr/>
          <p:nvPr/>
        </p:nvSpPr>
        <p:spPr>
          <a:xfrm>
            <a:off x="8321040" y="1810512"/>
            <a:ext cx="502920" cy="502920"/>
          </a:xfrm>
          <a:prstGeom prst="ellipse">
            <a:avLst/>
          </a:prstGeom>
          <a:solidFill>
            <a:srgbClr val="B5482F"/>
          </a:solidFill>
          <a:ln w="12700">
            <a:solidFill>
              <a:srgbClr val="B548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1810512"/>
            <a:ext cx="26517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 방법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2468880"/>
            <a:ext cx="315468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입주자 모집은 공급규칙 절차를 따라야 함. 상가주 임의 우선배정 불가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749040"/>
            <a:ext cx="315468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주택공급에 관한 규칙 제3조</a:t>
            </a:r>
            <a:endParaRPr lang="en-US" sz="1200" dirty="0"/>
          </a:p>
        </p:txBody>
      </p:sp>
      <p:sp>
        <p:nvSpPr>
          <p:cNvPr id="24" name="note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828032"/>
            <a:ext cx="36576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8A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제도 변경 동향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175504"/>
            <a:ext cx="106984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국토교통부는 상업·준주거지역 주상복합 건축허가 기준을 300세대 미만에서 500세대 미만으로, 주택 연면적 비율을 90% 미만에서 100% 미만으로 완화하는 시행령 개정안을 입법예고함(2030.12.31까지 한시, 파이낸셜뉴스 2026.9.29 보도).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완화되어도 주택 30세대 이상 공급 시 공급규칙 적용 구조는 변하지 않음.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 ② 검증: 지자체 특별공급 물량 배정론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특별공급은 규칙에 열거된 대상자에 한정됨. 상가 소유주는 열거 대상이 아님.</a:t>
            </a:r>
            <a:endParaRPr lang="en-US" sz="1500" dirty="0"/>
          </a:p>
        </p:txBody>
      </p:sp>
      <p:sp>
        <p:nvSpPr>
          <p:cNvPr id="4" name="verdict"/>
          <p:cNvSpPr/>
          <p:nvPr/>
        </p:nvSpPr>
        <p:spPr>
          <a:xfrm>
            <a:off x="548640" y="1645920"/>
            <a:ext cx="3291840" cy="4526280"/>
          </a:xfrm>
          <a:prstGeom prst="roundRect">
            <a:avLst>
              <a:gd name="adj" fmla="val 2222"/>
            </a:avLst>
          </a:prstGeom>
          <a:solidFill>
            <a:srgbClr val="B5482F"/>
          </a:solidFill>
          <a:ln w="9525">
            <a:solidFill>
              <a:srgbClr val="B548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6D6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결과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8346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불가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283464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민간 상가 재건축의 상가주에게 특별공급 물량을 배정할 법령상 근거가 확인되지 않음.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394960"/>
            <a:ext cx="28346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6D6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통화 상대방도 유사 사례를 확인하지 못함</a:t>
            </a:r>
            <a:endParaRPr lang="en-US" sz="1200" dirty="0"/>
          </a:p>
        </p:txBody>
      </p:sp>
      <p:sp>
        <p:nvSpPr>
          <p:cNvPr id="9" name="pt 0"/>
          <p:cNvSpPr/>
          <p:nvPr/>
        </p:nvSpPr>
        <p:spPr>
          <a:xfrm>
            <a:off x="4114800" y="1645920"/>
            <a:ext cx="7498080" cy="1389888"/>
          </a:xfrm>
          <a:prstGeom prst="roundRect">
            <a:avLst>
              <a:gd name="adj" fmla="val 5263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737360"/>
            <a:ext cx="71323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철거주택 소유자 특공의 범위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148840"/>
            <a:ext cx="7132320" cy="8412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제35조제1항제12호는 공익사업 시행으로 철거되는 '주택'의 소유자를 대상으로 함. 상가(비주택) 소유자는 문언상 해당하지 않음.</a:t>
            </a:r>
            <a:endParaRPr lang="en-US" sz="1350" dirty="0"/>
          </a:p>
        </p:txBody>
      </p:sp>
      <p:sp>
        <p:nvSpPr>
          <p:cNvPr id="12" name="pt 1"/>
          <p:cNvSpPr/>
          <p:nvPr/>
        </p:nvSpPr>
        <p:spPr>
          <a:xfrm>
            <a:off x="4114800" y="3182112"/>
            <a:ext cx="7498080" cy="1389888"/>
          </a:xfrm>
          <a:prstGeom prst="roundRect">
            <a:avLst>
              <a:gd name="adj" fmla="val 5263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3273552"/>
            <a:ext cx="71323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특별공급 요건의 해석 원칙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685032"/>
            <a:ext cx="7132320" cy="8412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법제처는 특별공급이 예외적 공급방식이므로 요건을 엄격·제한적으로 해석해야 한다고 봄(22-0481, 21-0780 인용).</a:t>
            </a:r>
            <a:endParaRPr lang="en-US" sz="1350" dirty="0"/>
          </a:p>
        </p:txBody>
      </p:sp>
      <p:sp>
        <p:nvSpPr>
          <p:cNvPr id="15" name="pt 2"/>
          <p:cNvSpPr/>
          <p:nvPr/>
        </p:nvSpPr>
        <p:spPr>
          <a:xfrm>
            <a:off x="4114800" y="4718304"/>
            <a:ext cx="7498080" cy="1389888"/>
          </a:xfrm>
          <a:prstGeom prst="roundRect">
            <a:avLst>
              <a:gd name="adj" fmla="val 5263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4809744"/>
            <a:ext cx="71323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지자체 재량 배정의 한계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5221224"/>
            <a:ext cx="7132320" cy="8412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규칙에 없는 대상자에게 조합·지자체 협의로 물량을 배정하는 방식은 근거 규정이 확인되지 않음. 시행 시 공급질서 위반 소지가 있음.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구조: 공급규칙 적용 예외 트랙으로 전환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관리처분계획·사업시행계획·조합원 공급 등 규칙상 예외 경로에 들어가야 상가주 배정이 가능함.</a:t>
            </a:r>
            <a:endParaRPr lang="en-US" sz="1500" dirty="0"/>
          </a:p>
        </p:txBody>
      </p:sp>
      <p:sp>
        <p:nvSpPr>
          <p:cNvPr id="4" name="start"/>
          <p:cNvSpPr/>
          <p:nvPr/>
        </p:nvSpPr>
        <p:spPr>
          <a:xfrm>
            <a:off x="548640" y="169164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01752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 소유주의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아파트 배정 요구</a:t>
            </a:r>
            <a:endParaRPr lang="en-US" sz="1600" dirty="0"/>
          </a:p>
        </p:txBody>
      </p:sp>
      <p:sp>
        <p:nvSpPr>
          <p:cNvPr id="6" name="flow1"/>
          <p:cNvSpPr/>
          <p:nvPr/>
        </p:nvSpPr>
        <p:spPr>
          <a:xfrm>
            <a:off x="3566160" y="2240280"/>
            <a:ext cx="548640" cy="0"/>
          </a:xfrm>
          <a:prstGeom prst="line">
            <a:avLst/>
          </a:prstGeom>
          <a:noFill/>
          <a:ln w="25400">
            <a:solidFill>
              <a:srgbClr val="8A99A6"/>
            </a:solidFill>
            <a:prstDash val="solid"/>
            <a:tailEnd type="triangle"/>
          </a:ln>
        </p:spPr>
      </p:sp>
      <p:sp>
        <p:nvSpPr>
          <p:cNvPr id="7" name="q"/>
          <p:cNvSpPr/>
          <p:nvPr/>
        </p:nvSpPr>
        <p:spPr>
          <a:xfrm>
            <a:off x="4114800" y="169164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0" y="1691640"/>
            <a:ext cx="329184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 30세대 이상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 여부</a:t>
            </a:r>
            <a:endParaRPr lang="en-US" sz="1600" dirty="0"/>
          </a:p>
        </p:txBody>
      </p:sp>
      <p:sp>
        <p:nvSpPr>
          <p:cNvPr id="9" name="flow2"/>
          <p:cNvSpPr/>
          <p:nvPr/>
        </p:nvSpPr>
        <p:spPr>
          <a:xfrm>
            <a:off x="7406640" y="2240280"/>
            <a:ext cx="548640" cy="0"/>
          </a:xfrm>
          <a:prstGeom prst="line">
            <a:avLst/>
          </a:prstGeom>
          <a:noFill/>
          <a:ln w="25400">
            <a:solidFill>
              <a:srgbClr val="8A99A6"/>
            </a:solidFill>
            <a:prstDash val="solid"/>
            <a:tailEnd type="triangle"/>
          </a:ln>
        </p:spPr>
      </p:sp>
      <p:sp>
        <p:nvSpPr>
          <p:cNvPr id="10" name="yes"/>
          <p:cNvSpPr/>
          <p:nvPr/>
        </p:nvSpPr>
        <p:spPr>
          <a:xfrm>
            <a:off x="7955280" y="169164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FBEFEC"/>
          </a:solidFill>
          <a:ln w="9525">
            <a:solidFill>
              <a:srgbClr val="FBEF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 → 공급규칙 적용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원칙: 입주자 공개모집</a:t>
            </a:r>
            <a:endParaRPr lang="en-US" sz="1500" dirty="0"/>
          </a:p>
        </p:txBody>
      </p:sp>
      <p:sp>
        <p:nvSpPr>
          <p:cNvPr id="12" name="flow3"/>
          <p:cNvSpPr/>
          <p:nvPr/>
        </p:nvSpPr>
        <p:spPr>
          <a:xfrm>
            <a:off x="5760720" y="2788920"/>
            <a:ext cx="0" cy="502920"/>
          </a:xfrm>
          <a:prstGeom prst="line">
            <a:avLst/>
          </a:prstGeom>
          <a:noFill/>
          <a:ln w="25400">
            <a:solidFill>
              <a:srgbClr val="8A99A6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11480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8A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아니오 → 규칙 미적용(대안 ④)</a:t>
            </a:r>
            <a:endParaRPr lang="en-US" sz="1300" dirty="0"/>
          </a:p>
        </p:txBody>
      </p:sp>
      <p:sp>
        <p:nvSpPr>
          <p:cNvPr id="14" name="flow4"/>
          <p:cNvSpPr/>
          <p:nvPr/>
        </p:nvSpPr>
        <p:spPr>
          <a:xfrm>
            <a:off x="9784080" y="2788920"/>
            <a:ext cx="0" cy="502920"/>
          </a:xfrm>
          <a:prstGeom prst="line">
            <a:avLst/>
          </a:prstGeom>
          <a:noFill/>
          <a:ln w="25400">
            <a:solidFill>
              <a:srgbClr val="8A99A6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95528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제3조 적용 예외 경로</a:t>
            </a:r>
            <a:endParaRPr lang="en-US" sz="1300" dirty="0"/>
          </a:p>
        </p:txBody>
      </p:sp>
      <p:sp>
        <p:nvSpPr>
          <p:cNvPr id="16" name="opt 0"/>
          <p:cNvSpPr/>
          <p:nvPr/>
        </p:nvSpPr>
        <p:spPr>
          <a:xfrm>
            <a:off x="548640" y="397764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4114800"/>
            <a:ext cx="22860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①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498848"/>
            <a:ext cx="2286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시장정비사업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관리처분계획(재개발 준용)</a:t>
            </a:r>
            <a:endParaRPr lang="en-US" sz="1350" dirty="0"/>
          </a:p>
        </p:txBody>
      </p:sp>
      <p:sp>
        <p:nvSpPr>
          <p:cNvPr id="20" name="opt 1"/>
          <p:cNvSpPr/>
          <p:nvPr/>
        </p:nvSpPr>
        <p:spPr>
          <a:xfrm>
            <a:off x="3364992" y="397764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547872" y="4114800"/>
            <a:ext cx="22860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②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547872" y="4498848"/>
            <a:ext cx="2286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소규모주택정비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547872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관리처분·사업시행계획</a:t>
            </a:r>
            <a:endParaRPr lang="en-US" sz="1350" dirty="0"/>
          </a:p>
        </p:txBody>
      </p:sp>
      <p:sp>
        <p:nvSpPr>
          <p:cNvPr id="24" name="opt 2"/>
          <p:cNvSpPr/>
          <p:nvPr/>
        </p:nvSpPr>
        <p:spPr>
          <a:xfrm>
            <a:off x="6181344" y="397764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364224" y="4114800"/>
            <a:ext cx="22860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8A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③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364224" y="4498848"/>
            <a:ext cx="2286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지역주택조합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364224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조합원 공급</a:t>
            </a:r>
            <a:endParaRPr lang="en-US" sz="1350" dirty="0"/>
          </a:p>
        </p:txBody>
      </p:sp>
      <p:sp>
        <p:nvSpPr>
          <p:cNvPr id="28" name="opt 3"/>
          <p:cNvSpPr/>
          <p:nvPr/>
        </p:nvSpPr>
        <p:spPr>
          <a:xfrm>
            <a:off x="8997696" y="397764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180576" y="4114800"/>
            <a:ext cx="22860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8A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④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180576" y="4498848"/>
            <a:ext cx="2286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 조정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180576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29세대 이하 / 오피스텔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①. 시장정비사업 방식(전통시장법)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대상지가 시장정비사업 요건을 갖추면 가장 직접적인 경로임.</a:t>
            </a:r>
            <a:endParaRPr lang="en-US" sz="1500" dirty="0"/>
          </a:p>
        </p:txBody>
      </p:sp>
      <p:sp>
        <p:nvSpPr>
          <p:cNvPr id="4" name="chip 조건부 가능"/>
          <p:cNvSpPr/>
          <p:nvPr/>
        </p:nvSpPr>
        <p:spPr>
          <a:xfrm>
            <a:off x="10332720" y="102412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32720" y="10241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가능</a:t>
            </a:r>
            <a:endParaRPr lang="en-US" sz="1200" dirty="0"/>
          </a:p>
        </p:txBody>
      </p:sp>
      <p:sp>
        <p:nvSpPr>
          <p:cNvPr id="6" name="col 0"/>
          <p:cNvSpPr/>
          <p:nvPr/>
        </p:nvSpPr>
        <p:spPr>
          <a:xfrm>
            <a:off x="548640" y="16459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법적 근거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320040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전통시장법 제4조제1항: 시장정비사업에 관해 정하지 않은 사항은 도시정비법 재개발 규정을 준용함.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법제처 해석(강남구 질의): 시장정비사업으로 공동주택 분양 시 도시정비법 제74조, 시행령 제63조제1항제3호 단서가 준용됨.</a:t>
            </a:r>
            <a:endParaRPr lang="en-US" sz="1350" dirty="0"/>
          </a:p>
        </p:txBody>
      </p:sp>
      <p:sp>
        <p:nvSpPr>
          <p:cNvPr id="9" name="col 1"/>
          <p:cNvSpPr/>
          <p:nvPr/>
        </p:nvSpPr>
        <p:spPr>
          <a:xfrm>
            <a:off x="4343400" y="16459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 원리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286000"/>
            <a:ext cx="320040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상가(토지·건축물) 소유자는 토지등소유자로서 관리처분계획에 따라 공동주택을 분양받을 수 있음.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관리처분 공급분은 공급규칙 적용 예외 대상임(규칙 제3조제2항).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조합원 공급 후 잔여 세대만 일반분양함.</a:t>
            </a:r>
            <a:endParaRPr lang="en-US" sz="1350" dirty="0"/>
          </a:p>
        </p:txBody>
      </p:sp>
      <p:sp>
        <p:nvSpPr>
          <p:cNvPr id="12" name="col 2"/>
          <p:cNvSpPr/>
          <p:nvPr/>
        </p:nvSpPr>
        <p:spPr>
          <a:xfrm>
            <a:off x="8138160" y="16459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BEFEC"/>
          </a:solidFill>
          <a:ln w="9525">
            <a:solidFill>
              <a:srgbClr val="FBEF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제약·확인 사항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286000"/>
            <a:ext cx="320040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시·도조례가 정한 금액·규모·취득시기·유형 기준에 미달하는 소유자는 분양대상에서 제외될 수 있음.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광명시는 경기도 조례 기준 확인 필요함.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대상지의 등록·인정시장 해당 여부 확인 필요함.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법제처 해석은 법적 기속력이 없음.</a:t>
            </a:r>
            <a:endParaRPr lang="en-US" sz="1350" dirty="0"/>
          </a:p>
        </p:txBody>
      </p:sp>
      <p:sp>
        <p:nvSpPr>
          <p:cNvPr id="15" name="opinion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349240"/>
            <a:ext cx="14630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0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의견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5349240"/>
            <a:ext cx="92354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상가주 주택 배정의 법적 근거가 가장 명확한 방식임. 대상지의 시장 해당 여부와 경기도 조례상 분양대상 기준 충족 여부가 선결 과제임.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②. 소규모주택정비 방식(소규모주택정비법)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요건 미달 시 가로주택정비·소규모재개발 전환을 검토함.</a:t>
            </a:r>
            <a:endParaRPr lang="en-US" sz="1500" dirty="0"/>
          </a:p>
        </p:txBody>
      </p:sp>
      <p:sp>
        <p:nvSpPr>
          <p:cNvPr id="4" name="chip 조건부 가능"/>
          <p:cNvSpPr/>
          <p:nvPr/>
        </p:nvSpPr>
        <p:spPr>
          <a:xfrm>
            <a:off x="10332720" y="102412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32720" y="10241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가능</a:t>
            </a:r>
            <a:endParaRPr lang="en-US" sz="1200" dirty="0"/>
          </a:p>
        </p:txBody>
      </p:sp>
      <p:sp>
        <p:nvSpPr>
          <p:cNvPr id="6" name="col 0"/>
          <p:cNvSpPr/>
          <p:nvPr/>
        </p:nvSpPr>
        <p:spPr>
          <a:xfrm>
            <a:off x="548640" y="16459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법적 근거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320040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「빈집 및 소규모주택 정비에 관한 특례법」 제2조(사업 정의).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공급규칙 제3조: 소규모주택정비법 사업시행계획(관리처분)에 따라 토지등소유자·조합원에게 공급하는 주택은 적용 예외임(2023.11.10 시행본 문언 확인).</a:t>
            </a:r>
            <a:endParaRPr lang="en-US" sz="1350" dirty="0"/>
          </a:p>
        </p:txBody>
      </p:sp>
      <p:sp>
        <p:nvSpPr>
          <p:cNvPr id="9" name="col 1"/>
          <p:cNvSpPr/>
          <p:nvPr/>
        </p:nvSpPr>
        <p:spPr>
          <a:xfrm>
            <a:off x="4343400" y="16459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 원리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286000"/>
            <a:ext cx="320040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가로주택정비·소규모재개발은 구역 내 토지 또는 건축물 소유자가 토지등소유자가 됨.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 소유자도 조합원으로 사업시행계획에 따라 주택 공급 대상이 될 수 있음.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소규모재건축은 주택단지 대상이므로 상가 단독 부지에는 부적합함.</a:t>
            </a:r>
            <a:endParaRPr lang="en-US" sz="1350" dirty="0"/>
          </a:p>
        </p:txBody>
      </p:sp>
      <p:sp>
        <p:nvSpPr>
          <p:cNvPr id="12" name="col 2"/>
          <p:cNvSpPr/>
          <p:nvPr/>
        </p:nvSpPr>
        <p:spPr>
          <a:xfrm>
            <a:off x="8138160" y="16459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BEFEC"/>
          </a:solidFill>
          <a:ln w="9525">
            <a:solidFill>
              <a:srgbClr val="FBEF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제약·확인 사항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286000"/>
            <a:ext cx="320040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가로주택: 사업시행구역 1만㎡ 미만, 6m 이상 도로 등으로 둘러싸인 가로구역, 노후·불량건축물 2/3 이상 요건(서울시 안내 기준).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소규모재개발: 역세권·준공업지역 대상. 면적 기준은 원문 확인 필요함.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 소유자 분양기준은 조례·정관 확인 필요함.</a:t>
            </a:r>
            <a:endParaRPr lang="en-US" sz="1350" dirty="0"/>
          </a:p>
        </p:txBody>
      </p:sp>
      <p:sp>
        <p:nvSpPr>
          <p:cNvPr id="15" name="opinion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349240"/>
            <a:ext cx="14630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0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의견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5349240"/>
            <a:ext cx="92354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요건 미충족 시 차선책임. 구역 요건 충족 여부를 도시계획 자료로 먼저 확인해야 함.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③. 지역주택조합 방식(주택법)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정비사업 요건이 전혀 맞지 않을 때의 보조 대안임.</a:t>
            </a:r>
            <a:endParaRPr lang="en-US" sz="1500" dirty="0"/>
          </a:p>
        </p:txBody>
      </p:sp>
      <p:sp>
        <p:nvSpPr>
          <p:cNvPr id="4" name="chip 제한적"/>
          <p:cNvSpPr/>
          <p:nvPr/>
        </p:nvSpPr>
        <p:spPr>
          <a:xfrm>
            <a:off x="10332720" y="102412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32720" y="10241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제한적</a:t>
            </a:r>
            <a:endParaRPr lang="en-US" sz="1200" dirty="0"/>
          </a:p>
        </p:txBody>
      </p:sp>
      <p:sp>
        <p:nvSpPr>
          <p:cNvPr id="6" name="col 0"/>
          <p:cNvSpPr/>
          <p:nvPr/>
        </p:nvSpPr>
        <p:spPr>
          <a:xfrm>
            <a:off x="548640" y="16459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법적 근거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320040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주택법 제11조(주택조합 설립인가).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공급규칙 제3조제2항: 주택조합이 조합원에게 공급하기 위해 건설하는 주택은 일반 공급절차 일부 적용 예외임.</a:t>
            </a:r>
            <a:endParaRPr lang="en-US" sz="1350" dirty="0"/>
          </a:p>
        </p:txBody>
      </p:sp>
      <p:sp>
        <p:nvSpPr>
          <p:cNvPr id="9" name="col 1"/>
          <p:cNvSpPr/>
          <p:nvPr/>
        </p:nvSpPr>
        <p:spPr>
          <a:xfrm>
            <a:off x="4343400" y="16459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 원리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286000"/>
            <a:ext cx="320040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 소유주가 조합원 자격을 갖추면 조합원 지위로 주택을 배정받음.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조합원 수가 부족하면 외부 조합원 모집이 수반됨.</a:t>
            </a:r>
            <a:endParaRPr lang="en-US" sz="1350" dirty="0"/>
          </a:p>
        </p:txBody>
      </p:sp>
      <p:sp>
        <p:nvSpPr>
          <p:cNvPr id="12" name="col 2"/>
          <p:cNvSpPr/>
          <p:nvPr/>
        </p:nvSpPr>
        <p:spPr>
          <a:xfrm>
            <a:off x="8138160" y="16459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BEFEC"/>
          </a:solidFill>
          <a:ln w="9525">
            <a:solidFill>
              <a:srgbClr val="FBEF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제약·확인 사항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286000"/>
            <a:ext cx="320040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조합원 자격(시행령 제21조제1항제1호): 무주택 또는 85㎡ 이하 1주택 세대주이며 해당 지역 6개월 이상 거주.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조합설립: 토지사용권원 80% 이상 + 소유권 15% 이상(하남시 안내, 2020.7.24 이후).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다주택·외지 거주 상가주는 참여 불가함. 조합 사업 리스크가 큼.</a:t>
            </a:r>
            <a:endParaRPr lang="en-US" sz="1350" dirty="0"/>
          </a:p>
        </p:txBody>
      </p:sp>
      <p:sp>
        <p:nvSpPr>
          <p:cNvPr id="15" name="opinion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349240"/>
            <a:ext cx="14630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0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의견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5349240"/>
            <a:ext cx="92354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상가주 전원 배정이 불가능한 구조임. 주된 방식으로는 권고하지 않음.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④. 규모 조정 방식(29세대 이하 / 오피스텔)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건축허가 방식을 유지해야 할 경우의 물리적 대안임.</a:t>
            </a:r>
            <a:endParaRPr lang="en-US" sz="1500" dirty="0"/>
          </a:p>
        </p:txBody>
      </p:sp>
      <p:sp>
        <p:nvSpPr>
          <p:cNvPr id="4" name="chip 제한적"/>
          <p:cNvSpPr/>
          <p:nvPr/>
        </p:nvSpPr>
        <p:spPr>
          <a:xfrm>
            <a:off x="10332720" y="102412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32720" y="10241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제한적</a:t>
            </a:r>
            <a:endParaRPr lang="en-US" sz="1200" dirty="0"/>
          </a:p>
        </p:txBody>
      </p:sp>
      <p:sp>
        <p:nvSpPr>
          <p:cNvPr id="6" name="col 0"/>
          <p:cNvSpPr/>
          <p:nvPr/>
        </p:nvSpPr>
        <p:spPr>
          <a:xfrm>
            <a:off x="548640" y="16459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법적 근거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320040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주택법 제54조제1항: 건축허가 건축주는 법 제15조제1항 호수 이상 공급 시에만 사업주체에 포함됨.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오피스텔은 「주택법」상 주택이 아님(준주택).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건축물분양법 시행령 제2조: 오피스텔 30실 이상은 같은 법 적용 대상임.</a:t>
            </a:r>
            <a:endParaRPr lang="en-US" sz="1350" dirty="0"/>
          </a:p>
        </p:txBody>
      </p:sp>
      <p:sp>
        <p:nvSpPr>
          <p:cNvPr id="9" name="col 1"/>
          <p:cNvSpPr/>
          <p:nvPr/>
        </p:nvSpPr>
        <p:spPr>
          <a:xfrm>
            <a:off x="4343400" y="16459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 원리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286000"/>
            <a:ext cx="320040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공동주택을 30세대 미만으로 계획하면 공급규칙이 적용되지 않음.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상가주와 개별 계약으로 주택 배정이 가능함.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오피스텔 29실 이하는 건축물분양법 분양신고 대상에서도 제외됨.</a:t>
            </a:r>
            <a:endParaRPr lang="en-US" sz="1350" dirty="0"/>
          </a:p>
        </p:txBody>
      </p:sp>
      <p:sp>
        <p:nvSpPr>
          <p:cNvPr id="12" name="col 2"/>
          <p:cNvSpPr/>
          <p:nvPr/>
        </p:nvSpPr>
        <p:spPr>
          <a:xfrm>
            <a:off x="8138160" y="16459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BEFEC"/>
          </a:solidFill>
          <a:ln w="9525">
            <a:solidFill>
              <a:srgbClr val="FBEF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548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제약·확인 사항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286000"/>
            <a:ext cx="320040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오피스텔 30실 이상은 건축물분양법상 분양신고 절차를 거쳐야 함. 임의 배정 가능 여부는 원문 확인 필요함.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주상복합의 30세대 산정 시 민간임대주택 포함 여부가 법제처 해석 쟁점이었음(22-0562).</a:t>
            </a:r>
            <a:endParaRPr lang="en-US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세대수 축소로 사업성이 저하됨.</a:t>
            </a:r>
            <a:endParaRPr lang="en-US" sz="1350" dirty="0"/>
          </a:p>
        </p:txBody>
      </p:sp>
      <p:sp>
        <p:nvSpPr>
          <p:cNvPr id="15" name="opinion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F3A4D"/>
          </a:solidFill>
          <a:ln w="9525">
            <a:solidFill>
              <a:srgbClr val="1F3A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349240"/>
            <a:ext cx="14630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0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의견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5349240"/>
            <a:ext cx="92354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법적 위험은 낮으나 공급 규모가 작음. 오피스텔 구성 시 건축물분양법 절차를 별도 검토해야 함.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방식별 비교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상가주 배정 가능성과 선결 요건을 함께 비교함.</a:t>
            </a:r>
            <a:endParaRPr lang="en-US" sz="1500" dirty="0"/>
          </a:p>
        </p:txBody>
      </p:sp>
      <p:graphicFrame>
        <p:nvGraphicFramePr>
          <p:cNvPr id="12" name="comparis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  <a:gridCol w="1920240"/>
                <a:gridCol w="1828800"/>
                <a:gridCol w="1828800"/>
                <a:gridCol w="20116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시장정비사업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소규모주택정비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지역주택조합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규모 조정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 구상(30세대 이상 건축허가)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 법령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전통시장법 + 도시정비법 준용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소규모주택정비법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주택법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건축법(+건축물분양법)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건축법 + 주택법·공급규칙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상가주 주택 배정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가능(관리처분)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가능(사업시행계획)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8A1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자격자만 가능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가능(개별 계약)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5482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불가(공개모집)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다주택 상가주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8A1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조례 기준에 따름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8A1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조례·정관에 따름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5482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제한 없음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5482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일반청약 경쟁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선결 요건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시장 요건·추진계획 승인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가로구역·역세권 등 구역 요건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조합원 자격·토지 확보율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주택 29세대 이하 설계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없음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리스크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조례상 분양대상 제외 가능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구역 요건 미충족 가능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조합 사업 지연·분쟁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사업성 저하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상가주 요구 미충족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 검토 문서(docx) 검증 결과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방향은 타당함. 일부 조항 번호·해석 범위는 수정 또는 원문 확인이 필요함.</a:t>
            </a:r>
            <a:endParaRPr lang="en-US" sz="1500" dirty="0"/>
          </a:p>
        </p:txBody>
      </p:sp>
      <p:graphicFrame>
        <p:nvGraphicFramePr>
          <p:cNvPr id="13" name="verifica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00584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기재 내용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 의견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300세대 미만 건축허가 근거: 시행령 제27조제1항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8A1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법제처 해석상 근거는 시행령 제27조제4항제1호가목임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2026년 하반기 500세대 미만 완화 추진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2026.9 입법예고 보도 확인. 확정·시행 여부는 미확인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30세대 이상이면 건축허가라도 공급규칙 적용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주택법 제54조제1항 문언과 일치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철거주택 특공은 '주택' 소유자 한정, 상가주 배정 불가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규칙 제35조제1항제12호 확인. 21-0780은 엄격해석 원칙으로 인용됨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규칙 제35조제1항제27호의2, 제45조(5%) 인용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99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공개자료로 조문 내용을 확인하지 못함. 원문 대조 필요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시장정비사업 해석 안건번호 22-0572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99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해석 내용은 확인됨(강남구 질의). 안건번호는 미확인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시장정비사업 시 상가주는 1순위 분양신청 가능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8A1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시·도조례 분양기준 충족 시에만 가능함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오피스텔은 공급규칙 제약 없이 직접 배정 가능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8A1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30실 이상은 건축물분양법 적용 대상임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가로주택 요건 충족 시 최대 2만㎡, 단지형 49세대 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99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공개자료로 확인하지 못함. 원문 대조 필요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실무 확인 사항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방식 결정 전 아래 순서로 확인함.</a:t>
            </a:r>
            <a:endParaRPr lang="en-US" sz="1500" dirty="0"/>
          </a:p>
        </p:txBody>
      </p:sp>
      <p:sp>
        <p:nvSpPr>
          <p:cNvPr id="4" name="num 1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B5482F"/>
          </a:solidFill>
          <a:ln w="12700">
            <a:solidFill>
              <a:srgbClr val="B548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tep 0"/>
          <p:cNvSpPr/>
          <p:nvPr/>
        </p:nvSpPr>
        <p:spPr>
          <a:xfrm>
            <a:off x="1325880" y="1645920"/>
            <a:ext cx="10287000" cy="777240"/>
          </a:xfrm>
          <a:prstGeom prst="roundRect">
            <a:avLst>
              <a:gd name="adj" fmla="val 9412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63040" y="1645920"/>
            <a:ext cx="23774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해당 여부 확인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645920"/>
            <a:ext cx="56692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광명시 지역경제 담당 부서에 등록·인정시장, 상점가·골목형상점가 지정 여부를 확인함.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509760" y="1645920"/>
            <a:ext cx="20116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광명시청</a:t>
            </a:r>
            <a:endParaRPr lang="en-US" sz="1200" dirty="0"/>
          </a:p>
        </p:txBody>
      </p:sp>
      <p:sp>
        <p:nvSpPr>
          <p:cNvPr id="10" name="num 2"/>
          <p:cNvSpPr/>
          <p:nvPr/>
        </p:nvSpPr>
        <p:spPr>
          <a:xfrm>
            <a:off x="640080" y="2697480"/>
            <a:ext cx="502920" cy="502920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tep 1"/>
          <p:cNvSpPr/>
          <p:nvPr/>
        </p:nvSpPr>
        <p:spPr>
          <a:xfrm>
            <a:off x="1325880" y="2560320"/>
            <a:ext cx="10287000" cy="777240"/>
          </a:xfrm>
          <a:prstGeom prst="roundRect">
            <a:avLst>
              <a:gd name="adj" fmla="val 9412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63040" y="2560320"/>
            <a:ext cx="23774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분양대상 기준 확인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560320"/>
            <a:ext cx="56692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경기도 도시정비 조례상 공동주택 분양대상 기준(권리가액·면적·취득시기)을 확인함.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509760" y="2560320"/>
            <a:ext cx="20116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경기도·광명시 도시정비 부서</a:t>
            </a:r>
            <a:endParaRPr lang="en-US" sz="1200" dirty="0"/>
          </a:p>
        </p:txBody>
      </p:sp>
      <p:sp>
        <p:nvSpPr>
          <p:cNvPr id="16" name="num 3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tep 2"/>
          <p:cNvSpPr/>
          <p:nvPr/>
        </p:nvSpPr>
        <p:spPr>
          <a:xfrm>
            <a:off x="1325880" y="3474720"/>
            <a:ext cx="10287000" cy="777240"/>
          </a:xfrm>
          <a:prstGeom prst="roundRect">
            <a:avLst>
              <a:gd name="adj" fmla="val 9412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63040" y="3474720"/>
            <a:ext cx="23774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구역 요건 검토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3474720"/>
            <a:ext cx="56692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요건 미달 시 가로구역·역세권·노후도 요건으로 소규모주택정비 가능성을 검토함.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509760" y="3474720"/>
            <a:ext cx="20116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도시계획 자료</a:t>
            </a:r>
            <a:endParaRPr lang="en-US" sz="1200" dirty="0"/>
          </a:p>
        </p:txBody>
      </p:sp>
      <p:sp>
        <p:nvSpPr>
          <p:cNvPr id="22" name="num 4"/>
          <p:cNvSpPr/>
          <p:nvPr/>
        </p:nvSpPr>
        <p:spPr>
          <a:xfrm>
            <a:off x="640080" y="4526280"/>
            <a:ext cx="502920" cy="502920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tep 3"/>
          <p:cNvSpPr/>
          <p:nvPr/>
        </p:nvSpPr>
        <p:spPr>
          <a:xfrm>
            <a:off x="1325880" y="4389120"/>
            <a:ext cx="10287000" cy="777240"/>
          </a:xfrm>
          <a:prstGeom prst="roundRect">
            <a:avLst>
              <a:gd name="adj" fmla="val 9412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63040" y="4389120"/>
            <a:ext cx="23774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유권해석 확보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4389120"/>
            <a:ext cx="56692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방식 확정 전 국토교통부 질의회신 또는 법제처 법령해석을 서면으로 확보함.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509760" y="4389120"/>
            <a:ext cx="20116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국토교통부·법제처</a:t>
            </a:r>
            <a:endParaRPr lang="en-US" sz="1200" dirty="0"/>
          </a:p>
        </p:txBody>
      </p:sp>
      <p:sp>
        <p:nvSpPr>
          <p:cNvPr id="28" name="num 5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solidFill>
            <a:srgbClr val="1F3A4D"/>
          </a:solidFill>
          <a:ln w="12700">
            <a:solidFill>
              <a:srgbClr val="1F3A4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tep 4"/>
          <p:cNvSpPr/>
          <p:nvPr/>
        </p:nvSpPr>
        <p:spPr>
          <a:xfrm>
            <a:off x="1325880" y="5303520"/>
            <a:ext cx="10287000" cy="777240"/>
          </a:xfrm>
          <a:prstGeom prst="roundRect">
            <a:avLst>
              <a:gd name="adj" fmla="val 9412"/>
            </a:avLst>
          </a:prstGeom>
          <a:solidFill>
            <a:srgbClr val="EEF2F5"/>
          </a:solidFill>
          <a:ln w="9525">
            <a:solidFill>
              <a:srgbClr val="EEF2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463040" y="5303520"/>
            <a:ext cx="23774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상가주 동의 구조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840480" y="5303520"/>
            <a:ext cx="56692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토지등소유자 동의율, 분양 희망 수요, 다주택 여부를 조사함.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509760" y="5303520"/>
            <a:ext cx="20116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PM·조합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자료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B7A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법령 조문은 국가법령정보센터 현행 원문으로 최종 대조해야 함.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법제처 법령해석: 시장정비사업 공동주택 분양대상자 범위에 관한 도시정비법 시행령 제63조제1항제3호 단서 준용 여부(강남구 질의) — moleg.go.kr cs_seq=434117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법제처 법령해석 22-0562(2022.11.15): 주상복합 공급규칙 적용 판단 시 민간건설임대주택 호수 포함 여부 — moleg.go.kr cs_seq=433958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법제처 법령해석 22-0481: 민간 사업주체의 85㎡ 이하 민영주택 특별공급 가능 여부(21-0780 인용)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법제처 법령해석: 공익사업으로 철거되는 주택 소유자의 국민주택 특별공급대상 인정 범위(규칙 제35조제1항제12호바목) — moleg.go.kr cs_seq=386114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법제처 법령해석: 상업·제3종일반주거지역 걸친 대지의 사업계획승인 대상 여부(주택법 제15조제1항, 시행령 제27조제4항)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국토교통부 정책Q&amp;A: 지역주택조합 조합원 자격(주택법 시행령 제21조제1항제1호) — molit.go.kr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건축물의 분양에 관한 법률 시행령 제2조(오피스텔 30실 이상) — 2026.4.3 시행본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파이낸셜뉴스(2026.9.29): 주상복합 가구수 기준 500가구 미만 완화 시행령 개정안 입법예고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서울시 정비사업 정보몽땅: 가로주택정비사업 요건 / 하남시: 지역주택조합 설립 요건 안내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C2B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참고(추가 검토): 법제처 해석 — 재개발 정비구역 상가 토지등소유자의 2주택 공급 가능 여부(도시정비법 제76조제1항제7호라목)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9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ket Redevelopment Review">
  <a:themeElements>
    <a:clrScheme name="Market Redevelopment Review">
      <a:dk1>
        <a:srgbClr val="1C2B36"/>
      </a:dk1>
      <a:lt1>
        <a:srgbClr val="FFFFFF"/>
      </a:lt1>
      <a:dk2>
        <a:srgbClr val="1F3A4D"/>
      </a:dk2>
      <a:lt2>
        <a:srgbClr val="EEF2F5"/>
      </a:lt2>
      <a:accent1>
        <a:srgbClr val="1F3A4D"/>
      </a:accent1>
      <a:accent2>
        <a:srgbClr val="B5482F"/>
      </a:accent2>
      <a:accent3>
        <a:srgbClr val="2E7D5B"/>
      </a:accent3>
      <a:accent4>
        <a:srgbClr val="C98A1B"/>
      </a:accent4>
      <a:accent5>
        <a:srgbClr val="5B7A8C"/>
      </a:accent5>
      <a:accent6>
        <a:srgbClr val="8A99A6"/>
      </a:accent6>
      <a:hlink>
        <a:srgbClr val="1F5F8B"/>
      </a:hlink>
      <a:folHlink>
        <a:srgbClr val="5B7A8C"/>
      </a:folHlink>
    </a:clrScheme>
    <a:fontScheme name="Market Redevelopment Review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시장 재건축 상가 소유주 주택 분양 방안 법적 검증</dc:title>
  <dc:subject>PptxGenJS Presentation</dc:subject>
  <dc:creator>PM 검토</dc:creator>
  <cp:lastModifiedBy>PM 검토</cp:lastModifiedBy>
  <cp:revision>1</cp:revision>
  <dcterms:created xsi:type="dcterms:W3CDTF">2026-10-19T12:23:40Z</dcterms:created>
  <dcterms:modified xsi:type="dcterms:W3CDTF">2026-10-19T12:23:40Z</dcterms:modified>
</cp:coreProperties>
</file>